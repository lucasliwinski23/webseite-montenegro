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lanterna.me/lanterna-meni-2023.pdf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restaurantguru.com/Diplomat-Restoran-Podgorica/menu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tripadvisor.com/Restaurant_Review-g304088-d1956908-Reviews-Nacionalni_Restoran_Stara_Kuca-Podgorica_Podgorica_Municipality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restoranprotokol.me/meni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babirestaurant.me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://www.steakhousemontenegro.com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spagopodgorica.me/menu/" TargetMode="External"/><Relationship Id="rId2" Type="http://schemas.openxmlformats.org/officeDocument/2006/relationships/hyperlink" Target="https://restaurantguru.com/Diplomat-Restoran-Podgorica/menu" TargetMode="External"/><Relationship Id="rId3" Type="http://schemas.openxmlformats.org/officeDocument/2006/relationships/hyperlink" Target="https://www.instagram.com/gostiona1928/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D97842">
              <a:alpha val="15000"/>
            </a:srgbClr>
          </a:solidFill>
          <a:ln w="12700">
            <a:solidFill>
              <a:srgbClr val="D978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3657600"/>
            <a:ext cx="7315200" cy="7315200"/>
          </a:xfrm>
          <a:prstGeom prst="ellipse">
            <a:avLst/>
          </a:prstGeom>
          <a:solidFill>
            <a:srgbClr val="3D5283">
              <a:alpha val="25000"/>
            </a:srgbClr>
          </a:solidFill>
          <a:ln w="12700">
            <a:solidFill>
              <a:srgbClr val="3D528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55448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b="1" spc="800" kern="0" dirty="0">
                <a:solidFill>
                  <a:srgbClr val="F4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PODGORICA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i="1" dirty="0">
                <a:solidFill>
                  <a:srgbClr val="D97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SAUFTOUR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2286000" cy="0"/>
          </a:xfrm>
          <a:prstGeom prst="line">
            <a:avLst/>
          </a:prstGeom>
          <a:noFill/>
          <a:ln w="25400">
            <a:solidFill>
              <a:srgbClr val="D978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023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EDE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24. – 26. April 2026  ·  Montenegro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44348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Drei Tage · Drei Nächte · Viele Biere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62179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Flug W6 7602 / W6 7601  ·  Wizz Air  ·  Dortmund ↔ Podgorica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 Trip auf einen Blick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EINE KURZFASSUNG DER 3 TAGE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789920" y="365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 / 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356616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EBE1D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17320"/>
            <a:ext cx="3566160" cy="1143000"/>
          </a:xfrm>
          <a:prstGeom prst="rect">
            <a:avLst/>
          </a:prstGeom>
          <a:solidFill>
            <a:srgbClr val="D97842"/>
          </a:solidFill>
          <a:ln w="12700">
            <a:solidFill>
              <a:srgbClr val="D978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544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2103120" y="1691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FREITAG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103120" y="2057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4EDE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24. APRIL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2834640"/>
            <a:ext cx="30632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11:45 · Landung in Podgorica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Leichter Lunch + Einkauf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14:10 · Check-in Wohnung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Warmup-Kneipe ab 15:00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Regionales Dinner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Craft-Bier-Abend bis ca. 03:00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26280" y="1417320"/>
            <a:ext cx="356616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EBE1D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26280" y="1417320"/>
            <a:ext cx="3566160" cy="1143000"/>
          </a:xfrm>
          <a:prstGeom prst="rect">
            <a:avLst/>
          </a:prstGeom>
          <a:solidFill>
            <a:srgbClr val="1F2B4D"/>
          </a:solidFill>
          <a:ln w="12700">
            <a:solidFill>
              <a:srgbClr val="1F2B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5544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5989320" y="1691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SAMSTAG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989320" y="2057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4EDE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25. APRIL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2834640"/>
            <a:ext cx="30632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Langer Brunch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 h Sportsbar-Terrasse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Gehobenes regionales Dinner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Craft-Bier-Kneipe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Party-Finish bei Morrison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Raus bis 03:00 Uhr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412480" y="1417320"/>
            <a:ext cx="356616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EBE1D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12480" y="1417320"/>
            <a:ext cx="3566160" cy="1143000"/>
          </a:xfrm>
          <a:prstGeom prst="rect">
            <a:avLst/>
          </a:prstGeom>
          <a:solidFill>
            <a:srgbClr val="5D4478"/>
          </a:solidFill>
          <a:ln w="12700">
            <a:solidFill>
              <a:srgbClr val="5D44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0" y="15544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6000" dirty="0"/>
          </a:p>
        </p:txBody>
      </p:sp>
      <p:sp>
        <p:nvSpPr>
          <p:cNvPr id="20" name="Text 18"/>
          <p:cNvSpPr/>
          <p:nvPr/>
        </p:nvSpPr>
        <p:spPr>
          <a:xfrm>
            <a:off x="9875520" y="1691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SONNTAG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875520" y="2057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4EDE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26. APRIL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732520" y="2834640"/>
            <a:ext cx="30632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Check-out morgens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Gepäck mitnehmen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Langer Brunch (2,5 h)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Taxi zum Flughafen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17:30 · Abflug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19:55 · Landung DTM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Anreise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WIZZ AIR · DIREKTFLUG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789920" y="365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 / 22</a:t>
            </a:r>
            <a:endParaRPr lang="en-US" sz="1000" dirty="0"/>
          </a:p>
        </p:txBody>
      </p:sp>
      <p:pic>
        <p:nvPicPr>
          <p:cNvPr id="5" name="Image 0" descr="/home/claude/flight_rou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7498080" cy="4663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503920" y="1280160"/>
            <a:ext cx="3200400" cy="2194560"/>
          </a:xfrm>
          <a:prstGeom prst="rect">
            <a:avLst/>
          </a:prstGeom>
          <a:solidFill>
            <a:srgbClr val="1F2B4D"/>
          </a:solidFill>
          <a:ln w="12700">
            <a:solidFill>
              <a:srgbClr val="D9784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HINFLUG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68680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W6 7602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686800" y="210312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Freitag · 24. April 2026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F4EDE3"/>
                </a:solidFill>
              </a:rPr>
              <a:t>09:31  DTM Dortmund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F4EDE3"/>
                </a:solidFill>
              </a:rPr>
              <a:t>11:45  TGD Podgorica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</a:rPr>
              <a:t>Flugzeit 2:15 h  ·  1.344 km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503920" y="3611880"/>
            <a:ext cx="3200400" cy="2194560"/>
          </a:xfrm>
          <a:prstGeom prst="rect">
            <a:avLst/>
          </a:prstGeom>
          <a:solidFill>
            <a:srgbClr val="1F2B4D"/>
          </a:solidFill>
          <a:ln w="12700">
            <a:solidFill>
              <a:srgbClr val="D9784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RÜCKFLUG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686800" y="4023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W6 7601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8686800" y="443484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Sonntag · 26. April 2026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F4EDE3"/>
                </a:solidFill>
              </a:rPr>
              <a:t>17:30  TGD Podgorica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F4EDE3"/>
                </a:solidFill>
              </a:rPr>
              <a:t>19:55  DTM Dortmund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</a:rPr>
              <a:t>Flugzeit 2:25 h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Podgorica auf einen Blick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ALLE SPOTS, DIE WIR ABFAHREN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789920" y="365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 / 22</a:t>
            </a:r>
            <a:endParaRPr lang="en-US" sz="1000" dirty="0"/>
          </a:p>
        </p:txBody>
      </p:sp>
      <p:pic>
        <p:nvPicPr>
          <p:cNvPr id="5" name="Image 0" descr="/home/claude/map_podgori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8412480" cy="5303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23544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Kurz-Orientierung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9235440" y="1920240"/>
            <a:ext cx="256032" cy="25603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0" y="186537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Wohnung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601200" y="20574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Slobode 21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9235440" y="2514600"/>
            <a:ext cx="256032" cy="256032"/>
          </a:xfrm>
          <a:prstGeom prst="ellipse">
            <a:avLst/>
          </a:prstGeom>
          <a:solidFill>
            <a:srgbClr val="D97842"/>
          </a:solidFill>
          <a:ln w="12700">
            <a:solidFill>
              <a:srgbClr val="D9784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01200" y="245973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Restaurants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601200" y="26517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 regionale Spots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9235440" y="3108960"/>
            <a:ext cx="256032" cy="256032"/>
          </a:xfrm>
          <a:prstGeom prst="ellipse">
            <a:avLst/>
          </a:prstGeom>
          <a:solidFill>
            <a:srgbClr val="1F2B4D"/>
          </a:solidFill>
          <a:ln w="12700">
            <a:solidFill>
              <a:srgbClr val="1F2B4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01200" y="305409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Kneipen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601200" y="32461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 Abend-Locations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9235440" y="3703320"/>
            <a:ext cx="256032" cy="256032"/>
          </a:xfrm>
          <a:prstGeom prst="ellipse">
            <a:avLst/>
          </a:prstGeom>
          <a:solidFill>
            <a:srgbClr val="7FA654"/>
          </a:solidFill>
          <a:ln w="12700">
            <a:solidFill>
              <a:srgbClr val="7FA65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601200" y="364845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Supermärkte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601200" y="38404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 in Laufweite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9235440" y="4297680"/>
            <a:ext cx="256032" cy="256032"/>
          </a:xfrm>
          <a:prstGeom prst="ellipse">
            <a:avLst/>
          </a:prstGeom>
          <a:solidFill>
            <a:srgbClr val="5D4478"/>
          </a:solidFill>
          <a:ln w="12700">
            <a:solidFill>
              <a:srgbClr val="5D447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601200" y="424281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Sightseeing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9601200" y="44348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Stara Varoš + Sahat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9235440" y="4892040"/>
            <a:ext cx="256032" cy="256032"/>
          </a:xfrm>
          <a:prstGeom prst="ellipse">
            <a:avLst/>
          </a:prstGeom>
          <a:solidFill>
            <a:srgbClr val="D4A056"/>
          </a:solidFill>
          <a:ln w="12700">
            <a:solidFill>
              <a:srgbClr val="D4A05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601200" y="483717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Souvenirs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9601200" y="50292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für die Freundinnen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9235440" y="548640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1F2B4D"/>
          </a:solidFill>
          <a:ln w="12700">
            <a:solidFill>
              <a:srgbClr val="D9784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418320" y="553212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97842"/>
                </a:solidFill>
              </a:rPr>
              <a:t>UNSERE WOHNUNG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4EDE3"/>
                </a:solidFill>
              </a:rPr>
              <a:t>Slobode 21, 4. Stock</a:t>
            </a:r>
            <a:endParaRPr lang="en-US" sz="9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81000 Podgorica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</a:rPr>
              <a:t>Check-in ab 14:00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Wohnung &amp; Versorgung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SLOBODE 21 · DAS UMFELD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789920" y="365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 / 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86400" cy="5029200"/>
          </a:xfrm>
          <a:prstGeom prst="rect">
            <a:avLst/>
          </a:prstGeom>
          <a:solidFill>
            <a:srgbClr val="1F2B4D"/>
          </a:solidFill>
          <a:ln w="12700">
            <a:solidFill>
              <a:srgbClr val="1F2B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830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DIE WOHNUNG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Slobode 21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4. Stock · 81000 Podgorica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3337560"/>
            <a:ext cx="4754880" cy="0"/>
          </a:xfrm>
          <a:prstGeom prst="line">
            <a:avLst/>
          </a:prstGeom>
          <a:noFill/>
          <a:ln w="12700">
            <a:solidFill>
              <a:srgbClr val="3D528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52044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97842"/>
                </a:solidFill>
              </a:rPr>
              <a:t>Check-in:  </a:t>
            </a:r>
            <a:pPr indent="0" marL="0">
              <a:buNone/>
            </a:pPr>
            <a:r>
              <a:rPr lang="en-US" sz="1300" dirty="0">
                <a:solidFill>
                  <a:srgbClr val="F4EDE3"/>
                </a:solidFill>
              </a:rPr>
              <a:t>ab 14:00 Uhr am Freitag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D97842"/>
                </a:solidFill>
              </a:rPr>
              <a:t>Check-out:  </a:t>
            </a:r>
            <a:pPr indent="0" marL="0">
              <a:buNone/>
            </a:pPr>
            <a:r>
              <a:rPr lang="en-US" sz="1300" dirty="0">
                <a:solidFill>
                  <a:srgbClr val="F4EDE3"/>
                </a:solidFill>
              </a:rPr>
              <a:t>morgens am Sonntag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D97842"/>
                </a:solidFill>
              </a:rPr>
              <a:t>Lage:  </a:t>
            </a:r>
            <a:pPr indent="0" marL="0">
              <a:buNone/>
            </a:pPr>
            <a:r>
              <a:rPr lang="en-US" sz="1200" dirty="0">
                <a:solidFill>
                  <a:srgbClr val="F4EDE3"/>
                </a:solidFill>
              </a:rPr>
              <a:t>Direkt im Zentrum. Alles fußläufig erreichbar.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Die Wohnung liegt in der Slobode-Straße – genau zwischen Trg Republike (Hauptplatz) und der Ausgehmeile Njegoševa. Zu jedem Restaurant und Kneipe auf dem Plan sind es maximal 10 Minuten zu Fuß.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0936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EINKAUF &amp; VERSORGUNG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30936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Supermärkte in Laufweite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309360" y="2286000"/>
            <a:ext cx="5212080" cy="502920"/>
          </a:xfrm>
          <a:prstGeom prst="roundRect">
            <a:avLst>
              <a:gd name="adj" fmla="val 9091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2860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⚠  SONNTAG SIND ALLE 3 SUPERMÄRKTE GESCHLOSSEN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286207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85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Verpflegung für Sonntag schon am Freitag mit einkaufen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09360" y="3291840"/>
            <a:ext cx="52120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BE1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3291840"/>
            <a:ext cx="73152" cy="960120"/>
          </a:xfrm>
          <a:prstGeom prst="rect">
            <a:avLst/>
          </a:prstGeom>
          <a:solidFill>
            <a:srgbClr val="7FA654"/>
          </a:solidFill>
          <a:ln w="12700">
            <a:solidFill>
              <a:srgbClr val="7FA6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3383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3703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Größter · volle Auswahl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92240" y="39319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 Novaka Miloševa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784080" y="34747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A654"/>
                </a:solidFill>
              </a:rPr>
              <a:t>400 m · 5 Min</a:t>
            </a:r>
            <a:endParaRPr lang="en-US" sz="11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Mo-Sa 7:30 – 21:30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09360" y="4343400"/>
            <a:ext cx="52120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BE1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4343400"/>
            <a:ext cx="73152" cy="960120"/>
          </a:xfrm>
          <a:prstGeom prst="rect">
            <a:avLst/>
          </a:prstGeom>
          <a:solidFill>
            <a:srgbClr val="7FA654"/>
          </a:solidFill>
          <a:ln w="12700">
            <a:solidFill>
              <a:srgbClr val="7FA6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4434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Mimoza Market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92240" y="47548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Klein · direkt auf Slobode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92240" y="49834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 Slobode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784080" y="45262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A654"/>
                </a:solidFill>
              </a:rPr>
              <a:t>350 m · 5 Min</a:t>
            </a:r>
            <a:endParaRPr lang="en-US" sz="11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Mo-Sa 7:30 – 21:30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09360" y="5394960"/>
            <a:ext cx="52120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BE1D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09360" y="5394960"/>
            <a:ext cx="73152" cy="960120"/>
          </a:xfrm>
          <a:prstGeom prst="rect">
            <a:avLst/>
          </a:prstGeom>
          <a:solidFill>
            <a:srgbClr val="7FA654"/>
          </a:solidFill>
          <a:ln w="12700">
            <a:solidFill>
              <a:srgbClr val="7FA65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5486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iDEA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492240" y="58064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Geht bis Mitternacht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92240" y="6035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Bulevar Ivana Crnojevića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784080" y="55778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A654"/>
                </a:solidFill>
              </a:rPr>
              <a:t>500 m · 7 Min</a:t>
            </a:r>
            <a:endParaRPr lang="en-US" sz="11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Mo-Sa 7:00 – 24:00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Tag 1 — Freitag, 24. April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ANKUNFT &amp; EINSTIEG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789920" y="365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11:45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874520" y="1600200"/>
            <a:ext cx="164592" cy="164592"/>
          </a:xfrm>
          <a:prstGeom prst="ellipse">
            <a:avLst/>
          </a:prstGeom>
          <a:solidFill>
            <a:srgbClr val="D97842"/>
          </a:solidFill>
          <a:ln w="12700">
            <a:solidFill>
              <a:srgbClr val="D978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56816" y="1783080"/>
            <a:ext cx="0" cy="347472"/>
          </a:xfrm>
          <a:prstGeom prst="line">
            <a:avLst/>
          </a:prstGeom>
          <a:noFill/>
          <a:ln w="12700">
            <a:solidFill>
              <a:srgbClr val="EBE1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40280" y="1417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Landung TGD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40280" y="1673352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W6 7602 aus Dortmund. Koffer holen, weiter zum Taxi.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94767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12:15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874520" y="2130552"/>
            <a:ext cx="164592" cy="164592"/>
          </a:xfrm>
          <a:prstGeom prst="ellipse">
            <a:avLst/>
          </a:prstGeom>
          <a:solidFill>
            <a:srgbClr val="1F2B4D"/>
          </a:solidFill>
          <a:ln w="12700">
            <a:solidFill>
              <a:srgbClr val="1F2B4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56816" y="2313432"/>
            <a:ext cx="0" cy="347472"/>
          </a:xfrm>
          <a:prstGeom prst="line">
            <a:avLst/>
          </a:prstGeom>
          <a:noFill/>
          <a:ln w="12700">
            <a:solidFill>
              <a:srgbClr val="EBE1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40280" y="19476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Taxi ins Zentrum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240280" y="2203704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Eko Taxi (+382 19 700) oder Bolt-App. ~15 €, 25 Min Fahrt.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478024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12:40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874520" y="2660904"/>
            <a:ext cx="164592" cy="164592"/>
          </a:xfrm>
          <a:prstGeom prst="ellipse">
            <a:avLst/>
          </a:prstGeom>
          <a:solidFill>
            <a:srgbClr val="D97842"/>
          </a:solidFill>
          <a:ln w="12700">
            <a:solidFill>
              <a:srgbClr val="D978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56816" y="2843784"/>
            <a:ext cx="0" cy="347472"/>
          </a:xfrm>
          <a:prstGeom prst="line">
            <a:avLst/>
          </a:prstGeom>
          <a:noFill/>
          <a:ln w="12700">
            <a:solidFill>
              <a:srgbClr val="EBE1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40280" y="24780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Leichter Lunch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240280" y="2734056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Gostiona 1928 — traditionell, Terrasse, 2 Min von der Wohnung.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008376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13:45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874520" y="3191256"/>
            <a:ext cx="164592" cy="164592"/>
          </a:xfrm>
          <a:prstGeom prst="ellipse">
            <a:avLst/>
          </a:prstGeom>
          <a:solidFill>
            <a:srgbClr val="7FA654"/>
          </a:solidFill>
          <a:ln w="12700">
            <a:solidFill>
              <a:srgbClr val="7FA65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56816" y="3374136"/>
            <a:ext cx="0" cy="347472"/>
          </a:xfrm>
          <a:prstGeom prst="line">
            <a:avLst/>
          </a:prstGeom>
          <a:noFill/>
          <a:ln w="12700">
            <a:solidFill>
              <a:srgbClr val="EBE1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40280" y="3008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Einkauf VOLI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240280" y="3264408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Wasser, Snacks, Biere. WICHTIG: Sonntagsvorrat gleich mit!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353872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14:10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874520" y="3721608"/>
            <a:ext cx="164592" cy="16459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56816" y="3904488"/>
            <a:ext cx="0" cy="347472"/>
          </a:xfrm>
          <a:prstGeom prst="line">
            <a:avLst/>
          </a:prstGeom>
          <a:noFill/>
          <a:ln w="12700">
            <a:solidFill>
              <a:srgbClr val="EBE1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40280" y="35387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Wohnung · Check-in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240280" y="3794760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Koffer ausladen, 30 Min ankommen, kurz frisch machen.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406908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15:00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1874520" y="4251960"/>
            <a:ext cx="164592" cy="164592"/>
          </a:xfrm>
          <a:prstGeom prst="ellipse">
            <a:avLst/>
          </a:prstGeom>
          <a:solidFill>
            <a:srgbClr val="1F2B4D"/>
          </a:solidFill>
          <a:ln w="12700">
            <a:solidFill>
              <a:srgbClr val="1F2B4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56816" y="4434840"/>
            <a:ext cx="0" cy="347472"/>
          </a:xfrm>
          <a:prstGeom prst="line">
            <a:avLst/>
          </a:prstGeom>
          <a:noFill/>
          <a:ln w="12700">
            <a:solidFill>
              <a:srgbClr val="EBE1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40280" y="4069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Warmup-Kneipe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240280" y="4325112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PG Akademija piva — regionale Brauerei mit Terrasse. 3,5 h Zeit.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459943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19:00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1874520" y="4782312"/>
            <a:ext cx="164592" cy="164592"/>
          </a:xfrm>
          <a:prstGeom prst="ellipse">
            <a:avLst/>
          </a:prstGeom>
          <a:solidFill>
            <a:srgbClr val="D97842"/>
          </a:solidFill>
          <a:ln w="12700">
            <a:solidFill>
              <a:srgbClr val="D9784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956816" y="4965192"/>
            <a:ext cx="0" cy="347472"/>
          </a:xfrm>
          <a:prstGeom prst="line">
            <a:avLst/>
          </a:prstGeom>
          <a:noFill/>
          <a:ln w="12700">
            <a:solidFill>
              <a:srgbClr val="EBE1D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40280" y="45994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Dinner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2240280" y="4855464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 Optionen: Lanterna · Diplomat · Stara Kuća (siehe Details).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8640" y="5129784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22:30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1874520" y="5312664"/>
            <a:ext cx="164592" cy="164592"/>
          </a:xfrm>
          <a:prstGeom prst="ellipse">
            <a:avLst/>
          </a:prstGeom>
          <a:solidFill>
            <a:srgbClr val="1F2B4D"/>
          </a:solidFill>
          <a:ln w="12700">
            <a:solidFill>
              <a:srgbClr val="1F2B4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6816" y="5495544"/>
            <a:ext cx="0" cy="347472"/>
          </a:xfrm>
          <a:prstGeom prst="line">
            <a:avLst/>
          </a:prstGeom>
          <a:noFill/>
          <a:ln w="12700">
            <a:solidFill>
              <a:srgbClr val="EBE1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240280" y="51297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Craft-Bier-Abend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2240280" y="5385816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Bogart (4.9 ⭐) oder Itaka Library Bar (4.8 ⭐) am Fluss.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48640" y="5660136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00:00+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1874520" y="5843016"/>
            <a:ext cx="164592" cy="164592"/>
          </a:xfrm>
          <a:prstGeom prst="ellipse">
            <a:avLst/>
          </a:prstGeom>
          <a:solidFill>
            <a:srgbClr val="5D4478"/>
          </a:solidFill>
          <a:ln w="12700">
            <a:solidFill>
              <a:srgbClr val="5D447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40280" y="56601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Optional: Morrison Pub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2240280" y="5916168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Freitags bis 03:00. Live-Musik, falls noch Dampf da ist.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48640" y="6355080"/>
            <a:ext cx="11064240" cy="320040"/>
          </a:xfrm>
          <a:prstGeom prst="roundRect">
            <a:avLst>
              <a:gd name="adj" fmla="val 14286"/>
            </a:avLst>
          </a:prstGeom>
          <a:solidFill>
            <a:srgbClr val="0F1730"/>
          </a:solidFill>
          <a:ln w="12700">
            <a:solidFill>
              <a:srgbClr val="0F173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Tipp: Restaurant-Reservierung Freitag-Nachmittag anrufen — abends wird's voll.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Tag 2 — Samstag, 25. April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SPORTSBAR-TAG · DIE VOLLE DRÖHNUNG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789920" y="365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12:00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874520" y="1719072"/>
            <a:ext cx="201168" cy="201168"/>
          </a:xfrm>
          <a:prstGeom prst="ellipse">
            <a:avLst/>
          </a:prstGeom>
          <a:solidFill>
            <a:srgbClr val="D97842"/>
          </a:solidFill>
          <a:ln w="12700">
            <a:solidFill>
              <a:srgbClr val="D978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75104" y="1920240"/>
            <a:ext cx="0" cy="530352"/>
          </a:xfrm>
          <a:prstGeom prst="line">
            <a:avLst/>
          </a:prstGeom>
          <a:noFill/>
          <a:ln w="12700">
            <a:solidFill>
              <a:srgbClr val="EBE1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1508760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Langer Brunch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286000" y="1828800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SPAGO, Diplomat oder Gostiona 1928 — 2 h entspannt, Kaffee dazu.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1945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14:30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874520" y="2450592"/>
            <a:ext cx="201168" cy="201168"/>
          </a:xfrm>
          <a:prstGeom prst="ellipse">
            <a:avLst/>
          </a:prstGeom>
          <a:solidFill>
            <a:srgbClr val="1F2B4D"/>
          </a:solidFill>
          <a:ln w="12700">
            <a:solidFill>
              <a:srgbClr val="1F2B4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75104" y="2651760"/>
            <a:ext cx="0" cy="530352"/>
          </a:xfrm>
          <a:prstGeom prst="line">
            <a:avLst/>
          </a:prstGeom>
          <a:noFill/>
          <a:ln w="12700">
            <a:solidFill>
              <a:srgbClr val="EBE1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0" y="2240280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Pub WWW Sportsbar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286000" y="2560320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 h auf der großen Terrasse. Flatscreens, Tuborg vom Fass, Fußball schauen.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29260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19:30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1874520" y="3182112"/>
            <a:ext cx="201168" cy="201168"/>
          </a:xfrm>
          <a:prstGeom prst="ellipse">
            <a:avLst/>
          </a:prstGeom>
          <a:solidFill>
            <a:srgbClr val="D97842"/>
          </a:solidFill>
          <a:ln w="12700">
            <a:solidFill>
              <a:srgbClr val="D978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75104" y="3383280"/>
            <a:ext cx="0" cy="530352"/>
          </a:xfrm>
          <a:prstGeom prst="line">
            <a:avLst/>
          </a:prstGeom>
          <a:noFill/>
          <a:ln w="12700">
            <a:solidFill>
              <a:srgbClr val="EBE1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0" y="2971800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Gehobenes Dinner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286000" y="3291840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 Optionen: Protokol (Nr. 1 der Stadt) · Babi Gourmet · Steak House.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6576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22:30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1874520" y="3913632"/>
            <a:ext cx="201168" cy="201168"/>
          </a:xfrm>
          <a:prstGeom prst="ellipse">
            <a:avLst/>
          </a:prstGeom>
          <a:solidFill>
            <a:srgbClr val="1F2B4D"/>
          </a:solidFill>
          <a:ln w="12700">
            <a:solidFill>
              <a:srgbClr val="1F2B4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75104" y="4114800"/>
            <a:ext cx="0" cy="530352"/>
          </a:xfrm>
          <a:prstGeom prst="line">
            <a:avLst/>
          </a:prstGeom>
          <a:noFill/>
          <a:ln w="12700">
            <a:solidFill>
              <a:srgbClr val="EBE1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0" y="3703320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Craft-Bier-Kneipe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286000" y="4023360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Fermentor (lokal gebraut) oder Itaka Library Bar unter der Brücke.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43891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00:00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1874520" y="4645152"/>
            <a:ext cx="201168" cy="201168"/>
          </a:xfrm>
          <a:prstGeom prst="ellipse">
            <a:avLst/>
          </a:prstGeom>
          <a:solidFill>
            <a:srgbClr val="5D4478"/>
          </a:solidFill>
          <a:ln w="12700">
            <a:solidFill>
              <a:srgbClr val="5D447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75104" y="4846320"/>
            <a:ext cx="0" cy="530352"/>
          </a:xfrm>
          <a:prstGeom prst="line">
            <a:avLst/>
          </a:prstGeom>
          <a:noFill/>
          <a:ln w="12700">
            <a:solidFill>
              <a:srgbClr val="EBE1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0" y="4434840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Morrison Party-Finish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2286000" y="4754880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Samstags bis 03:00. Live-Musik, DJ, viele Leute.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51206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03:00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1874520" y="5376672"/>
            <a:ext cx="201168" cy="20116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86000" y="5166360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Heimweg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2286000" y="5486400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Zu Fuß oder per Bolt-App — 5 Min zur Wohnung.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Tag 3 — Sonntag, 26. April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AUSKLANG MIT GEPÄCK &amp; ABFLUG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789920" y="365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 / 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D97842"/>
          </a:solidFill>
          <a:ln w="12700">
            <a:solidFill>
              <a:srgbClr val="D978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⚠  Check-out ist morgens — Gepäck muss den ganzen Tag mit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10:30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874520" y="2304288"/>
            <a:ext cx="182880" cy="182880"/>
          </a:xfrm>
          <a:prstGeom prst="ellipse">
            <a:avLst/>
          </a:prstGeom>
          <a:solidFill>
            <a:srgbClr val="D97842"/>
          </a:solidFill>
          <a:ln w="12700">
            <a:solidFill>
              <a:srgbClr val="D978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65960" y="2487168"/>
            <a:ext cx="0" cy="393192"/>
          </a:xfrm>
          <a:prstGeom prst="line">
            <a:avLst/>
          </a:prstGeom>
          <a:noFill/>
          <a:ln w="12700">
            <a:solidFill>
              <a:srgbClr val="EBE1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2103120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Aufstehen &amp; packen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86000" y="2377440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Letzte Sachen in den Koffer, Küche klar machen, Müll raus.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697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11:00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874520" y="2898648"/>
            <a:ext cx="182880" cy="18288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65960" y="3081528"/>
            <a:ext cx="0" cy="393192"/>
          </a:xfrm>
          <a:prstGeom prst="line">
            <a:avLst/>
          </a:prstGeom>
          <a:noFill/>
          <a:ln w="12700">
            <a:solidFill>
              <a:srgbClr val="EBE1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0" y="2697480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Check-out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286000" y="2971800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Schlüssel zurück, Gepäck mitnehmen — keine Kneipenrunde mehr.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2918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11:30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874520" y="3493008"/>
            <a:ext cx="182880" cy="182880"/>
          </a:xfrm>
          <a:prstGeom prst="ellipse">
            <a:avLst/>
          </a:prstGeom>
          <a:solidFill>
            <a:srgbClr val="D97842"/>
          </a:solidFill>
          <a:ln w="12700">
            <a:solidFill>
              <a:srgbClr val="D9784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65960" y="3675888"/>
            <a:ext cx="0" cy="393192"/>
          </a:xfrm>
          <a:prstGeom prst="line">
            <a:avLst/>
          </a:prstGeom>
          <a:noFill/>
          <a:ln w="12700">
            <a:solidFill>
              <a:srgbClr val="EBE1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0" y="3291840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Langer Brunch (2,5 h)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286000" y="3566160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Diplomat oder Gostiona 1928 — beide nah an Wohnung, Platz für Koffer.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38862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14:15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874520" y="4087368"/>
            <a:ext cx="182880" cy="182880"/>
          </a:xfrm>
          <a:prstGeom prst="ellipse">
            <a:avLst/>
          </a:prstGeom>
          <a:solidFill>
            <a:srgbClr val="1F2B4D"/>
          </a:solidFill>
          <a:ln w="12700">
            <a:solidFill>
              <a:srgbClr val="1F2B4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65960" y="4270248"/>
            <a:ext cx="0" cy="393192"/>
          </a:xfrm>
          <a:prstGeom prst="line">
            <a:avLst/>
          </a:prstGeom>
          <a:noFill/>
          <a:ln w="12700">
            <a:solidFill>
              <a:srgbClr val="EBE1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0" y="3886200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Taxi zum TGD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286000" y="4160520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Eko Taxi oder Bolt, ~15 €, 25 Min Fahrt.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44805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14:45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874520" y="4681728"/>
            <a:ext cx="182880" cy="182880"/>
          </a:xfrm>
          <a:prstGeom prst="ellipse">
            <a:avLst/>
          </a:prstGeom>
          <a:solidFill>
            <a:srgbClr val="1F2B4D"/>
          </a:solidFill>
          <a:ln w="12700">
            <a:solidFill>
              <a:srgbClr val="1F2B4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65960" y="4864608"/>
            <a:ext cx="0" cy="393192"/>
          </a:xfrm>
          <a:prstGeom prst="line">
            <a:avLst/>
          </a:prstGeom>
          <a:noFill/>
          <a:ln w="12700">
            <a:solidFill>
              <a:srgbClr val="EBE1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0" y="4480560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Am Flughafen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286000" y="4754880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Checkin, Security — Wizz Air ist straff mit Handgepäck-Regeln.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50749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17:30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1874520" y="5276088"/>
            <a:ext cx="182880" cy="182880"/>
          </a:xfrm>
          <a:prstGeom prst="ellipse">
            <a:avLst/>
          </a:prstGeom>
          <a:solidFill>
            <a:srgbClr val="5D4478"/>
          </a:solidFill>
          <a:ln w="12700">
            <a:solidFill>
              <a:srgbClr val="5D447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965960" y="5458968"/>
            <a:ext cx="0" cy="393192"/>
          </a:xfrm>
          <a:prstGeom prst="line">
            <a:avLst/>
          </a:prstGeom>
          <a:noFill/>
          <a:ln w="12700">
            <a:solidFill>
              <a:srgbClr val="EBE1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86000" y="5074920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Abflug W6 7601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2286000" y="5349240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Nach Dortmund. Flugzeit 2:25 h.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" y="56692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19:55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1874520" y="5870448"/>
            <a:ext cx="182880" cy="182880"/>
          </a:xfrm>
          <a:prstGeom prst="ellipse">
            <a:avLst/>
          </a:prstGeom>
          <a:solidFill>
            <a:srgbClr val="2E5C3A"/>
          </a:solidFill>
          <a:ln w="12700">
            <a:solidFill>
              <a:srgbClr val="2E5C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86000" y="5669280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Landung DTM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2286000" y="5943600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Willkommen zurück. Heimfahrt nach Cloppenburg.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Konoba Lanterna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FREITAG DINNER · OPTION A — TRADITIONELLE KONOBA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789920" y="365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 / 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669280" cy="2011680"/>
          </a:xfrm>
          <a:prstGeom prst="rect">
            <a:avLst/>
          </a:prstGeom>
          <a:solidFill>
            <a:srgbClr val="1F2B4D"/>
          </a:solidFill>
          <a:ln w="12700">
            <a:solidFill>
              <a:srgbClr val="1F2B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45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GOOGLE RATING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4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 4.7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1.778 Bewertungen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1691640"/>
            <a:ext cx="2560320" cy="320040"/>
          </a:xfrm>
          <a:prstGeom prst="roundRect">
            <a:avLst>
              <a:gd name="adj" fmla="val 14286"/>
            </a:avLst>
          </a:prstGeom>
          <a:solidFill>
            <a:srgbClr val="D97842"/>
          </a:solidFill>
          <a:ln w="12700">
            <a:solidFill>
              <a:srgbClr val="D978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691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TRADITIONELL MONTENEGRINISCH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74720" y="21488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D97842"/>
                </a:solidFill>
              </a:rPr>
              <a:t>Preisniveau  </a:t>
            </a:r>
            <a:endParaRPr lang="en-US" sz="9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4EDE3"/>
                </a:solidFill>
              </a:rPr>
              <a:t>€€ · Mittelklasse</a:t>
            </a:r>
            <a:endParaRPr lang="en-US" sz="9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spc="200" kern="0" dirty="0">
                <a:solidFill>
                  <a:srgbClr val="D97842"/>
                </a:solidFill>
              </a:rPr>
              <a:t>Reservierung  </a:t>
            </a:r>
            <a:endParaRPr lang="en-US" sz="9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4EDE3"/>
                </a:solidFill>
              </a:rPr>
              <a:t>+382 67 663 163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361188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97842"/>
                </a:solidFill>
              </a:rPr>
              <a:t>ÜBER DAS RESTAURANT</a:t>
            </a:r>
            <a:endParaRPr lang="en-US" sz="9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Klassische Konoba in einem historischen Gebäude von 1630. Zentraler Innenhof mit uraltem Olivenbaum, Steinmauern, warme Beleuchtung. Tradition trifft auf ehrliche Küche — Portionen sind großzügig, Preise moderat. Top 10 Dinner-Restaurants Podgorica auf Tripadvisor.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4983480"/>
            <a:ext cx="56692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BE1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983480"/>
            <a:ext cx="73152" cy="1783080"/>
          </a:xfrm>
          <a:prstGeom prst="rect">
            <a:avLst/>
          </a:prstGeom>
          <a:solidFill>
            <a:srgbClr val="D4A056"/>
          </a:solidFill>
          <a:ln w="12700">
            <a:solidFill>
              <a:srgbClr val="D4A0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50749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„WAS GÄSTE SAGEN“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5349240"/>
            <a:ext cx="5349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„Traumhafter Innenhof mit altem Olivenbaum in der Mitte. Ruhig, entspannt — wirkt wie ein Rückzugsort mitten in der Stadt.”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— Google-Review, DE paraphrasiert</a:t>
            </a:r>
            <a:endParaRPr lang="en-US" sz="10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„Das Veal under the bell war butterzart, perfekt gewürzt. Pflicht-Gericht. Portionen reichen für zwei.”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— Wanderlog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92240" y="1417320"/>
            <a:ext cx="5120640" cy="4434840"/>
          </a:xfrm>
          <a:prstGeom prst="rect">
            <a:avLst/>
          </a:prstGeom>
          <a:solidFill>
            <a:srgbClr val="FFFFFF"/>
          </a:solidFill>
          <a:ln w="6350">
            <a:solidFill>
              <a:srgbClr val="EBE1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1417320"/>
            <a:ext cx="5120640" cy="457200"/>
          </a:xfrm>
          <a:prstGeom prst="rect">
            <a:avLst/>
          </a:prstGeom>
          <a:solidFill>
            <a:srgbClr val="D97842"/>
          </a:solidFill>
          <a:ln w="12700">
            <a:solidFill>
              <a:srgbClr val="D978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14173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AUSZUG AUS DER SPEISEKARTE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75120" y="19659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Spezialitäten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75120" y="2240280"/>
            <a:ext cx="4754880" cy="0"/>
          </a:xfrm>
          <a:prstGeom prst="line">
            <a:avLst/>
          </a:prstGeom>
          <a:noFill/>
          <a:ln w="6350">
            <a:solidFill>
              <a:srgbClr val="EBE1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231343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Veal under the bell (für 2)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424160" y="23134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~35 €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20840" y="25603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Kačamak (Polenta mit Käse)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424160" y="2560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~10 €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20840" y="28072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Ćevapi mit Zwiebel &amp; Brot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424160" y="28072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~10 €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675120" y="3246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Hauptgerichte &amp; Beilagen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675120" y="3520440"/>
            <a:ext cx="4754880" cy="0"/>
          </a:xfrm>
          <a:prstGeom prst="line">
            <a:avLst/>
          </a:prstGeom>
          <a:noFill/>
          <a:ln w="6350">
            <a:solidFill>
              <a:srgbClr val="EBE1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20840" y="359359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Kalbssuppe (teleća čorba)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424160" y="35935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~5 €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20840" y="38404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Pastrmka (Forelle vom Grill)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424160" y="38404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~14 €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720840" y="408736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Shopska Salat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424160" y="40873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~5 €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675120" y="45262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Hausmacherart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675120" y="4800600"/>
            <a:ext cx="4754880" cy="0"/>
          </a:xfrm>
          <a:prstGeom prst="line">
            <a:avLst/>
          </a:prstGeom>
          <a:noFill/>
          <a:ln w="6350">
            <a:solidFill>
              <a:srgbClr val="EBE1D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20840" y="487375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Hausgemachtes Brot „lepinja“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424160" y="48737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~3 €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720840" y="51206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Hausmacher-Rakija 2 cl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424160" y="51206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~2 €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720840" y="536752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Nikšićko Pivo 0,5 l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424160" y="536752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~2,50 €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492240" y="6035040"/>
            <a:ext cx="5120640" cy="384048"/>
          </a:xfrm>
          <a:prstGeom prst="roundRect">
            <a:avLst>
              <a:gd name="adj" fmla="val 11905"/>
            </a:avLst>
          </a:prstGeom>
          <a:solidFill>
            <a:srgbClr val="1F2B4D"/>
          </a:solidFill>
          <a:ln w="12700">
            <a:solidFill>
              <a:srgbClr val="1F2B4D"/>
            </a:solidFill>
            <a:prstDash val="solid"/>
          </a:ln>
        </p:spPr>
      </p:sp>
      <p:sp>
        <p:nvSpPr>
          <p:cNvPr id="45" name="Text 43">
            <a:hlinkClick r:id="rId1" tooltip=""/>
          </p:cNvPr>
          <p:cNvSpPr/>
          <p:nvPr/>
        </p:nvSpPr>
        <p:spPr>
          <a:xfrm>
            <a:off x="6492240" y="603504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sng" dirty="0">
                <a:solidFill>
                  <a:srgbClr val="F4EDE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Speisekarte öffnen (PDF)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Restoran Diplomat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FREITAG DINNER · OPTION B — MEDITERRAN &amp; REGIONAL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789920" y="365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 / 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669280" cy="2011680"/>
          </a:xfrm>
          <a:prstGeom prst="rect">
            <a:avLst/>
          </a:prstGeom>
          <a:solidFill>
            <a:srgbClr val="1F2B4D"/>
          </a:solidFill>
          <a:ln w="12700">
            <a:solidFill>
              <a:srgbClr val="1F2B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45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GOOGLE RATING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4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 4.8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545 Bewertungen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1691640"/>
            <a:ext cx="2560320" cy="320040"/>
          </a:xfrm>
          <a:prstGeom prst="roundRect">
            <a:avLst>
              <a:gd name="adj" fmla="val 14286"/>
            </a:avLst>
          </a:prstGeom>
          <a:solidFill>
            <a:srgbClr val="D97842"/>
          </a:solidFill>
          <a:ln w="12700">
            <a:solidFill>
              <a:srgbClr val="D978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691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MEDITERRAN · REGIONAL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74720" y="21488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D97842"/>
                </a:solidFill>
              </a:rPr>
              <a:t>Preisniveau  </a:t>
            </a:r>
            <a:endParaRPr lang="en-US" sz="9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4EDE3"/>
                </a:solidFill>
              </a:rPr>
              <a:t>€€ · 30-35 €/Person</a:t>
            </a:r>
            <a:endParaRPr lang="en-US" sz="9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spc="200" kern="0" dirty="0">
                <a:solidFill>
                  <a:srgbClr val="D97842"/>
                </a:solidFill>
              </a:rPr>
              <a:t>Reservierung  </a:t>
            </a:r>
            <a:endParaRPr lang="en-US" sz="9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4EDE3"/>
                </a:solidFill>
              </a:rPr>
              <a:t>+382 67 993 339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361188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97842"/>
                </a:solidFill>
              </a:rPr>
              <a:t>ÜBER DAS RESTAURANT</a:t>
            </a:r>
            <a:endParaRPr lang="en-US" sz="9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Gehobener mediterran-regionaler Tisch direkt am Trg Republike, 3 Minuten von unserer Wohnung. Bekannt für die Kalbsbacke in Rotwein (Signature-Dish) und das kostenlose Brotkörbchen mit drei Sorten und hausgemachten Pasten als Starter. Entspannte Atmosphäre ohne Fine-Dining-Theater.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4983480"/>
            <a:ext cx="56692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BE1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983480"/>
            <a:ext cx="73152" cy="1783080"/>
          </a:xfrm>
          <a:prstGeom prst="rect">
            <a:avLst/>
          </a:prstGeom>
          <a:solidFill>
            <a:srgbClr val="D4A056"/>
          </a:solidFill>
          <a:ln w="12700">
            <a:solidFill>
              <a:srgbClr val="D4A0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50749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„WAS GÄSTE SAGEN“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5349240"/>
            <a:ext cx="5349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„Kalbsbacke in Rotwein war außergewöhnlich — zart wie Butter, intensiv im Geschmack. Selten auf Karten in Podgorica.”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— Google-Review, DE paraphrasiert</a:t>
            </a:r>
            <a:endParaRPr lang="en-US" sz="10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„Bestes Essen in drei Wochen Montenegro. Freundlicher Service, richtig gute Weinempfehlungen.”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— Tripadvisor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92240" y="1417320"/>
            <a:ext cx="5120640" cy="4434840"/>
          </a:xfrm>
          <a:prstGeom prst="rect">
            <a:avLst/>
          </a:prstGeom>
          <a:solidFill>
            <a:srgbClr val="FFFFFF"/>
          </a:solidFill>
          <a:ln w="6350">
            <a:solidFill>
              <a:srgbClr val="EBE1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1417320"/>
            <a:ext cx="5120640" cy="457200"/>
          </a:xfrm>
          <a:prstGeom prst="rect">
            <a:avLst/>
          </a:prstGeom>
          <a:solidFill>
            <a:srgbClr val="D97842"/>
          </a:solidFill>
          <a:ln w="12700">
            <a:solidFill>
              <a:srgbClr val="D978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14173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AUSZUG AUS DER SPEISEKARTE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75120" y="19659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Signature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75120" y="2240280"/>
            <a:ext cx="4754880" cy="0"/>
          </a:xfrm>
          <a:prstGeom prst="line">
            <a:avLst/>
          </a:prstGeom>
          <a:noFill/>
          <a:ln w="6350">
            <a:solidFill>
              <a:srgbClr val="EBE1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231343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Kalbsbacke in Rotwein mit Kartoffelpüree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424160" y="23134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~18 €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20840" y="25603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Brotkörbchen + 3 Pasten-Dips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424160" y="2560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gratis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20840" y="28072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Spaghetti Carbonara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424160" y="28072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~10 €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675120" y="3246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Vorspeisen &amp; Salate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675120" y="3520440"/>
            <a:ext cx="4754880" cy="0"/>
          </a:xfrm>
          <a:prstGeom prst="line">
            <a:avLst/>
          </a:prstGeom>
          <a:noFill/>
          <a:ln w="6350">
            <a:solidFill>
              <a:srgbClr val="EBE1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20840" y="359359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Caprese Salad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424160" y="35935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~8 €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20840" y="38404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Chicken Caesar Salad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424160" y="38404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~9 €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720840" y="408736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Crnogorska zakuska (Käse/Prosciutto)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424160" y="40873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~14 €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675120" y="45262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Dessert &amp; Getränke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675120" y="4800600"/>
            <a:ext cx="4754880" cy="0"/>
          </a:xfrm>
          <a:prstGeom prst="line">
            <a:avLst/>
          </a:prstGeom>
          <a:noFill/>
          <a:ln w="6350">
            <a:solidFill>
              <a:srgbClr val="EBE1D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20840" y="487375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Apple Pie Montenegro-Style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424160" y="48737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~5 €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720840" y="51206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Weinkarte (Glas ab)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424160" y="51206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~3 €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720840" y="536752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Einheimisches Bier 0,5 l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424160" y="536752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~2,50 €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492240" y="6035040"/>
            <a:ext cx="5120640" cy="384048"/>
          </a:xfrm>
          <a:prstGeom prst="roundRect">
            <a:avLst>
              <a:gd name="adj" fmla="val 11905"/>
            </a:avLst>
          </a:prstGeom>
          <a:solidFill>
            <a:srgbClr val="1F2B4D"/>
          </a:solidFill>
          <a:ln w="12700">
            <a:solidFill>
              <a:srgbClr val="1F2B4D"/>
            </a:solidFill>
            <a:prstDash val="solid"/>
          </a:ln>
        </p:spPr>
      </p:sp>
      <p:sp>
        <p:nvSpPr>
          <p:cNvPr id="45" name="Text 43">
            <a:hlinkClick r:id="rId1" tooltip=""/>
          </p:cNvPr>
          <p:cNvSpPr/>
          <p:nvPr/>
        </p:nvSpPr>
        <p:spPr>
          <a:xfrm>
            <a:off x="6492240" y="603504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sng" dirty="0">
                <a:solidFill>
                  <a:srgbClr val="F4EDE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Menü auf Restaurant Guru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Nacionalni Restoran Stara Kuća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FREITAG DINNER · OPTION C — WIE EIN SCHLOSS, 3 KM AUßERHALB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789920" y="365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 / 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669280" cy="2011680"/>
          </a:xfrm>
          <a:prstGeom prst="rect">
            <a:avLst/>
          </a:prstGeom>
          <a:solidFill>
            <a:srgbClr val="1F2B4D"/>
          </a:solidFill>
          <a:ln w="12700">
            <a:solidFill>
              <a:srgbClr val="1F2B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45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GOOGLE RATING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4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 4.5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321 Bewertungen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1691640"/>
            <a:ext cx="2560320" cy="320040"/>
          </a:xfrm>
          <a:prstGeom prst="roundRect">
            <a:avLst>
              <a:gd name="adj" fmla="val 14286"/>
            </a:avLst>
          </a:prstGeom>
          <a:solidFill>
            <a:srgbClr val="D97842"/>
          </a:solidFill>
          <a:ln w="12700">
            <a:solidFill>
              <a:srgbClr val="D978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691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TRADITIONELL · NATIONALE KÜCHE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74720" y="21488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D97842"/>
                </a:solidFill>
              </a:rPr>
              <a:t>Preisniveau  </a:t>
            </a:r>
            <a:endParaRPr lang="en-US" sz="9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4EDE3"/>
                </a:solidFill>
              </a:rPr>
              <a:t>€€ · gehobene Mitte</a:t>
            </a:r>
            <a:endParaRPr lang="en-US" sz="9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spc="200" kern="0" dirty="0">
                <a:solidFill>
                  <a:srgbClr val="D97842"/>
                </a:solidFill>
              </a:rPr>
              <a:t>Reservierung  </a:t>
            </a:r>
            <a:endParaRPr lang="en-US" sz="9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4EDE3"/>
                </a:solidFill>
              </a:rPr>
              <a:t>+382 69 030 204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361188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97842"/>
                </a:solidFill>
              </a:rPr>
              <a:t>ÜBER DAS RESTAURANT</a:t>
            </a:r>
            <a:endParaRPr lang="en-US" sz="9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Restauriertes Herrenhaus mit offenem Kamin, wunderschöner Garten, elegante Einrichtung. 3 km außerhalb des Zentrums (Taxi ~5 €). Serviert traditionelle montenegrinische Küche mit modernem Twist — Signature ist Lamm in Milch. Ideal für einen besonderen Abend mit Charakter.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4983480"/>
            <a:ext cx="56692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BE1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983480"/>
            <a:ext cx="73152" cy="1783080"/>
          </a:xfrm>
          <a:prstGeom prst="rect">
            <a:avLst/>
          </a:prstGeom>
          <a:solidFill>
            <a:srgbClr val="D4A056"/>
          </a:solidFill>
          <a:ln w="12700">
            <a:solidFill>
              <a:srgbClr val="D4A0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50749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„WAS GÄSTE SAGEN“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5349240"/>
            <a:ext cx="5349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„Wunderbarer Ort mit köstlichem Essen und gemütlicher Atmosphäre. Vegetarische Optionen waren überraschend vielfältig.”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— Google-Review, DE paraphrasiert</a:t>
            </a:r>
            <a:endParaRPr lang="en-US" sz="10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„Wie ein kleines Schloss — beeindruckende Atmosphäre, offener Kamin in der Mitte, toller Service.”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— Tripadvisor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92240" y="1417320"/>
            <a:ext cx="5120640" cy="4434840"/>
          </a:xfrm>
          <a:prstGeom prst="rect">
            <a:avLst/>
          </a:prstGeom>
          <a:solidFill>
            <a:srgbClr val="FFFFFF"/>
          </a:solidFill>
          <a:ln w="6350">
            <a:solidFill>
              <a:srgbClr val="EBE1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1417320"/>
            <a:ext cx="5120640" cy="457200"/>
          </a:xfrm>
          <a:prstGeom prst="rect">
            <a:avLst/>
          </a:prstGeom>
          <a:solidFill>
            <a:srgbClr val="D97842"/>
          </a:solidFill>
          <a:ln w="12700">
            <a:solidFill>
              <a:srgbClr val="D978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14173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AUSZUG AUS DER SPEISEKARTE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75120" y="19659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Signature Dishes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75120" y="2240280"/>
            <a:ext cx="4754880" cy="0"/>
          </a:xfrm>
          <a:prstGeom prst="line">
            <a:avLst/>
          </a:prstGeom>
          <a:noFill/>
          <a:ln w="6350">
            <a:solidFill>
              <a:srgbClr val="EBE1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231343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Lamm in Milch (Jagnjetina)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424160" y="23134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~22 €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20840" y="25603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Asche-geröstetes Fleisch + Kartoffeln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424160" y="2560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~20 €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20840" y="28072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Veal under the bell (für 2)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424160" y="28072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~40 €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675120" y="3246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Vorspeisen &amp; Suppen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675120" y="3520440"/>
            <a:ext cx="4754880" cy="0"/>
          </a:xfrm>
          <a:prstGeom prst="line">
            <a:avLst/>
          </a:prstGeom>
          <a:noFill/>
          <a:ln w="6350">
            <a:solidFill>
              <a:srgbClr val="EBE1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20840" y="359359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Montenegrinische Aufschnittplatte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424160" y="35935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~15 €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20840" y="38404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Kačamak mit Kajmak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424160" y="38404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~9 €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720840" y="408736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Lammsuppe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424160" y="40873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~6 €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675120" y="45262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Getränke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675120" y="4800600"/>
            <a:ext cx="4754880" cy="0"/>
          </a:xfrm>
          <a:prstGeom prst="line">
            <a:avLst/>
          </a:prstGeom>
          <a:noFill/>
          <a:ln w="6350">
            <a:solidFill>
              <a:srgbClr val="EBE1D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20840" y="487375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Einheimischer Rotwein (Glas)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424160" y="48737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~4 €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720840" y="51206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Vranac-Flasche (regional)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424160" y="51206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~20 €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720840" y="536752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Hausmacher-Rakija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424160" y="536752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~2,50 €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492240" y="6035040"/>
            <a:ext cx="5120640" cy="384048"/>
          </a:xfrm>
          <a:prstGeom prst="roundRect">
            <a:avLst>
              <a:gd name="adj" fmla="val 11905"/>
            </a:avLst>
          </a:prstGeom>
          <a:solidFill>
            <a:srgbClr val="1F2B4D"/>
          </a:solidFill>
          <a:ln w="12700">
            <a:solidFill>
              <a:srgbClr val="1F2B4D"/>
            </a:solidFill>
            <a:prstDash val="solid"/>
          </a:ln>
        </p:spPr>
      </p:sp>
      <p:sp>
        <p:nvSpPr>
          <p:cNvPr id="45" name="Text 43">
            <a:hlinkClick r:id="rId1" tooltip=""/>
          </p:cNvPr>
          <p:cNvSpPr/>
          <p:nvPr/>
        </p:nvSpPr>
        <p:spPr>
          <a:xfrm>
            <a:off x="6492240" y="603504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sng" dirty="0">
                <a:solidFill>
                  <a:srgbClr val="F4EDE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Tripadvisor-Profil öffnen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Restoran Protokol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SAMSTAG DINNER · OPTION A — HÖCHSTE BEWERTUNG DER STADT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789920" y="365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 / 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669280" cy="2011680"/>
          </a:xfrm>
          <a:prstGeom prst="rect">
            <a:avLst/>
          </a:prstGeom>
          <a:solidFill>
            <a:srgbClr val="1F2B4D"/>
          </a:solidFill>
          <a:ln w="12700">
            <a:solidFill>
              <a:srgbClr val="1F2B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45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GOOGLE RATING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4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 4.9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623 Bewertungen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1691640"/>
            <a:ext cx="2560320" cy="320040"/>
          </a:xfrm>
          <a:prstGeom prst="roundRect">
            <a:avLst>
              <a:gd name="adj" fmla="val 14286"/>
            </a:avLst>
          </a:prstGeom>
          <a:solidFill>
            <a:srgbClr val="D97842"/>
          </a:solidFill>
          <a:ln w="12700">
            <a:solidFill>
              <a:srgbClr val="D978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691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REGIONAL-KREATIV · FINE DINING LIGHT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74720" y="21488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D97842"/>
                </a:solidFill>
              </a:rPr>
              <a:t>Preisniveau  </a:t>
            </a:r>
            <a:endParaRPr lang="en-US" sz="9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4EDE3"/>
                </a:solidFill>
              </a:rPr>
              <a:t>€€€ · gehoben</a:t>
            </a:r>
            <a:endParaRPr lang="en-US" sz="9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spc="200" kern="0" dirty="0">
                <a:solidFill>
                  <a:srgbClr val="D97842"/>
                </a:solidFill>
              </a:rPr>
              <a:t>Reservierung  </a:t>
            </a:r>
            <a:endParaRPr lang="en-US" sz="9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4EDE3"/>
                </a:solidFill>
              </a:rPr>
              <a:t>+382 68 222 111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361188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97842"/>
                </a:solidFill>
              </a:rPr>
              <a:t>ÜBER DAS RESTAURANT</a:t>
            </a:r>
            <a:endParaRPr lang="en-US" sz="9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Höchstbewertetes Restaurant der Stadt. 4.9⭐ bei 623 Reviews. Gehobene regionale Küche mit kreativen Interpretationen. Angus-Steaks, Dry-Aged Fleisch, eigene Zigarrenhumidor. Gastro-Bar-Bereich ist günstiger, Hauptrestaurant für das große Dinner. Vorbestellen — die sind voll am Samstag.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4983480"/>
            <a:ext cx="56692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BE1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983480"/>
            <a:ext cx="73152" cy="1783080"/>
          </a:xfrm>
          <a:prstGeom prst="rect">
            <a:avLst/>
          </a:prstGeom>
          <a:solidFill>
            <a:srgbClr val="D4A056"/>
          </a:solidFill>
          <a:ln w="12700">
            <a:solidFill>
              <a:srgbClr val="D4A0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50749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„WAS GÄSTE SAGEN“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5349240"/>
            <a:ext cx="5349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„Perfekt! Unglaubliches Restaurant, Essen exzellent, Kellner perfekt. Sommelier mit viel Wissen und freundlicher Art.”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— Tripadvisor, DE paraphrasiert</a:t>
            </a:r>
            <a:endParaRPr lang="en-US" sz="10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„Sauberes Personal, professionell, immer zur Stelle. Breite Whisky-Auswahl, beeindruckende Zigarren-Humidor.”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— Google-Review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92240" y="1417320"/>
            <a:ext cx="5120640" cy="4434840"/>
          </a:xfrm>
          <a:prstGeom prst="rect">
            <a:avLst/>
          </a:prstGeom>
          <a:solidFill>
            <a:srgbClr val="FFFFFF"/>
          </a:solidFill>
          <a:ln w="6350">
            <a:solidFill>
              <a:srgbClr val="EBE1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1417320"/>
            <a:ext cx="5120640" cy="457200"/>
          </a:xfrm>
          <a:prstGeom prst="rect">
            <a:avLst/>
          </a:prstGeom>
          <a:solidFill>
            <a:srgbClr val="D97842"/>
          </a:solidFill>
          <a:ln w="12700">
            <a:solidFill>
              <a:srgbClr val="D978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14173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AUSZUG AUS DER SPEISEKARTE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75120" y="19659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Gastro-Bar (günstiger)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75120" y="2240280"/>
            <a:ext cx="4754880" cy="0"/>
          </a:xfrm>
          <a:prstGeom prst="line">
            <a:avLst/>
          </a:prstGeom>
          <a:noFill/>
          <a:ln w="6350">
            <a:solidFill>
              <a:srgbClr val="EBE1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231343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Tartar vom Rindfleisch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424160" y="23134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22,00 €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20840" y="25603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Mariniertes Angus-Carpaccio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424160" y="2560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18,50 €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20840" y="28072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Crnogorska zakuska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424160" y="28072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16,00 €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675120" y="3246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Restaurant · Hauptgerichte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675120" y="3520440"/>
            <a:ext cx="4754880" cy="0"/>
          </a:xfrm>
          <a:prstGeom prst="line">
            <a:avLst/>
          </a:prstGeom>
          <a:noFill/>
          <a:ln w="6350">
            <a:solidFill>
              <a:srgbClr val="EBE1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20840" y="359359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Premium Dry-Aged Steak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424160" y="35935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42-65 €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20840" y="38404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Kalbshauptgericht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424160" y="38404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32-44 €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720840" y="408736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Fisch-Spezialitäten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424160" y="40873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30-42 €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675120" y="45262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Wein &amp; Spirituosen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675120" y="4800600"/>
            <a:ext cx="4754880" cy="0"/>
          </a:xfrm>
          <a:prstGeom prst="line">
            <a:avLst/>
          </a:prstGeom>
          <a:noFill/>
          <a:ln w="6350">
            <a:solidFill>
              <a:srgbClr val="EBE1D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20840" y="487375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Hauswein (Glas)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424160" y="48737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8,00 €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720840" y="51206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Premium Vranac (Flasche)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424160" y="51206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32-42 €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720840" y="536752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Premium Weine (bis)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424160" y="536752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650 €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492240" y="6035040"/>
            <a:ext cx="5120640" cy="384048"/>
          </a:xfrm>
          <a:prstGeom prst="roundRect">
            <a:avLst>
              <a:gd name="adj" fmla="val 11905"/>
            </a:avLst>
          </a:prstGeom>
          <a:solidFill>
            <a:srgbClr val="1F2B4D"/>
          </a:solidFill>
          <a:ln w="12700">
            <a:solidFill>
              <a:srgbClr val="1F2B4D"/>
            </a:solidFill>
            <a:prstDash val="solid"/>
          </a:ln>
        </p:spPr>
      </p:sp>
      <p:sp>
        <p:nvSpPr>
          <p:cNvPr id="45" name="Text 43">
            <a:hlinkClick r:id="rId1" tooltip=""/>
          </p:cNvPr>
          <p:cNvSpPr/>
          <p:nvPr/>
        </p:nvSpPr>
        <p:spPr>
          <a:xfrm>
            <a:off x="6492240" y="603504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sng" dirty="0">
                <a:solidFill>
                  <a:srgbClr val="F4EDE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Speisekarte Restaurant öffnen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Babi Gourmet &amp; Wine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SAMSTAG DINNER · OPTION B — MODERN &amp; ELEGANT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789920" y="365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13 / 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669280" cy="2011680"/>
          </a:xfrm>
          <a:prstGeom prst="rect">
            <a:avLst/>
          </a:prstGeom>
          <a:solidFill>
            <a:srgbClr val="1F2B4D"/>
          </a:solidFill>
          <a:ln w="12700">
            <a:solidFill>
              <a:srgbClr val="1F2B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45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GOOGLE RATING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4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 4.8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1.543 Bewertungen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1691640"/>
            <a:ext cx="2560320" cy="320040"/>
          </a:xfrm>
          <a:prstGeom prst="roundRect">
            <a:avLst>
              <a:gd name="adj" fmla="val 14286"/>
            </a:avLst>
          </a:prstGeom>
          <a:solidFill>
            <a:srgbClr val="D97842"/>
          </a:solidFill>
          <a:ln w="12700">
            <a:solidFill>
              <a:srgbClr val="D978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691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GOURMET · INTERNATIONAL-MEDITERRAN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74720" y="21488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D97842"/>
                </a:solidFill>
              </a:rPr>
              <a:t>Preisniveau  </a:t>
            </a:r>
            <a:endParaRPr lang="en-US" sz="9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4EDE3"/>
                </a:solidFill>
              </a:rPr>
              <a:t>€€€ · gehoben</a:t>
            </a:r>
            <a:endParaRPr lang="en-US" sz="9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spc="200" kern="0" dirty="0">
                <a:solidFill>
                  <a:srgbClr val="D97842"/>
                </a:solidFill>
              </a:rPr>
              <a:t>Reservierung  </a:t>
            </a:r>
            <a:endParaRPr lang="en-US" sz="9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4EDE3"/>
                </a:solidFill>
              </a:rPr>
              <a:t>+382 67 160 393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361188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97842"/>
                </a:solidFill>
              </a:rPr>
              <a:t>ÜBER DAS RESTAURANT</a:t>
            </a:r>
            <a:endParaRPr lang="en-US" sz="9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Modernes Bistro im Capital Plaza. Gemütliche, hochwertige Atmosphäre ohne Steifheit. Fokus auf langsam geschmortes Fleisch, Filet Mignon, Seebarsch in Kapern-Zitronen-Sauce. Exzellente Weinkarte. Glutenfreie und vegetarische Optionen verfügbar. Aktiv in Podgorica, Tivat und Bar.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4983480"/>
            <a:ext cx="56692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BE1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983480"/>
            <a:ext cx="73152" cy="1783080"/>
          </a:xfrm>
          <a:prstGeom prst="rect">
            <a:avLst/>
          </a:prstGeom>
          <a:solidFill>
            <a:srgbClr val="D4A056"/>
          </a:solidFill>
          <a:ln w="12700">
            <a:solidFill>
              <a:srgbClr val="D4A0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50749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„WAS GÄSTE SAGEN“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5349240"/>
            <a:ext cx="5349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„Wunderschöner Raum, köstliches Essen, elegante Präsentation. Service auf höchstem Niveau.”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— Google-Review DE paraphrasiert</a:t>
            </a:r>
            <a:endParaRPr lang="en-US" sz="10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„Großzügige Portionen, lang gekochtes Fleisch — ein Traum. Das Babi Special Breakfast ist auch top.”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— Wanderlog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92240" y="1417320"/>
            <a:ext cx="5120640" cy="4434840"/>
          </a:xfrm>
          <a:prstGeom prst="rect">
            <a:avLst/>
          </a:prstGeom>
          <a:solidFill>
            <a:srgbClr val="FFFFFF"/>
          </a:solidFill>
          <a:ln w="6350">
            <a:solidFill>
              <a:srgbClr val="EBE1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1417320"/>
            <a:ext cx="5120640" cy="457200"/>
          </a:xfrm>
          <a:prstGeom prst="rect">
            <a:avLst/>
          </a:prstGeom>
          <a:solidFill>
            <a:srgbClr val="D97842"/>
          </a:solidFill>
          <a:ln w="12700">
            <a:solidFill>
              <a:srgbClr val="D978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14173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AUSZUG AUS DER SPEISEKARTE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75120" y="19659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Hauptgerichte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75120" y="2240280"/>
            <a:ext cx="4754880" cy="0"/>
          </a:xfrm>
          <a:prstGeom prst="line">
            <a:avLst/>
          </a:prstGeom>
          <a:noFill/>
          <a:ln w="6350">
            <a:solidFill>
              <a:srgbClr val="EBE1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231343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Langsam geschmorte Rump Steak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424160" y="23134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~18 €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20840" y="25603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Beef Stroganoff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424160" y="2560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~16 €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20840" y="28072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Steak Burger mit karamell. Zwiebeln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424160" y="28072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~13 €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675120" y="3246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Pasta &amp; Risotto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675120" y="3520440"/>
            <a:ext cx="4754880" cy="0"/>
          </a:xfrm>
          <a:prstGeom prst="line">
            <a:avLst/>
          </a:prstGeom>
          <a:noFill/>
          <a:ln w="6350">
            <a:solidFill>
              <a:srgbClr val="EBE1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20840" y="359359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Tagliatelle Truffle mit Gnocchi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424160" y="35935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~14 €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20840" y="38404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Risotto-Variationen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424160" y="38404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~12 €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720840" y="408736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Tortillas &amp; Tacos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424160" y="40873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~9 €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675120" y="45262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Wein &amp; Salate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675120" y="4800600"/>
            <a:ext cx="4754880" cy="0"/>
          </a:xfrm>
          <a:prstGeom prst="line">
            <a:avLst/>
          </a:prstGeom>
          <a:noFill/>
          <a:ln w="6350">
            <a:solidFill>
              <a:srgbClr val="EBE1D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20840" y="487375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Vegetarisches Omelett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424160" y="48737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~8 €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720840" y="51206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Wein-Glas (regional)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424160" y="51206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~4 €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720840" y="536752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Babi Special Weinkarte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424160" y="536752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gehoben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492240" y="6035040"/>
            <a:ext cx="5120640" cy="384048"/>
          </a:xfrm>
          <a:prstGeom prst="roundRect">
            <a:avLst>
              <a:gd name="adj" fmla="val 11905"/>
            </a:avLst>
          </a:prstGeom>
          <a:solidFill>
            <a:srgbClr val="1F2B4D"/>
          </a:solidFill>
          <a:ln w="12700">
            <a:solidFill>
              <a:srgbClr val="1F2B4D"/>
            </a:solidFill>
            <a:prstDash val="solid"/>
          </a:ln>
        </p:spPr>
      </p:sp>
      <p:sp>
        <p:nvSpPr>
          <p:cNvPr id="45" name="Text 43">
            <a:hlinkClick r:id="rId1" tooltip=""/>
          </p:cNvPr>
          <p:cNvSpPr/>
          <p:nvPr/>
        </p:nvSpPr>
        <p:spPr>
          <a:xfrm>
            <a:off x="6492240" y="603504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sng" dirty="0">
                <a:solidFill>
                  <a:srgbClr val="F4EDE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Website öffnen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Steak House – Grill, Fish &amp; Meat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SAMSTAG DINNER · OPTION C — FÜR DIE FLEISCH-LIEBHABER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789920" y="365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14 / 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669280" cy="2011680"/>
          </a:xfrm>
          <a:prstGeom prst="rect">
            <a:avLst/>
          </a:prstGeom>
          <a:solidFill>
            <a:srgbClr val="1F2B4D"/>
          </a:solidFill>
          <a:ln w="12700">
            <a:solidFill>
              <a:srgbClr val="1F2B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45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GOOGLE RATING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4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 4.7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1.017 Bewertungen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1691640"/>
            <a:ext cx="2560320" cy="320040"/>
          </a:xfrm>
          <a:prstGeom prst="roundRect">
            <a:avLst>
              <a:gd name="adj" fmla="val 14286"/>
            </a:avLst>
          </a:prstGeom>
          <a:solidFill>
            <a:srgbClr val="D97842"/>
          </a:solidFill>
          <a:ln w="12700">
            <a:solidFill>
              <a:srgbClr val="D978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691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STEAKHOUSE · PREMIUM GRILL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74720" y="21488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D97842"/>
                </a:solidFill>
              </a:rPr>
              <a:t>Preisniveau  </a:t>
            </a:r>
            <a:endParaRPr lang="en-US" sz="9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4EDE3"/>
                </a:solidFill>
              </a:rPr>
              <a:t>€€€ · gehoben</a:t>
            </a:r>
            <a:endParaRPr lang="en-US" sz="9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spc="200" kern="0" dirty="0">
                <a:solidFill>
                  <a:srgbClr val="D97842"/>
                </a:solidFill>
              </a:rPr>
              <a:t>Reservierung  </a:t>
            </a:r>
            <a:endParaRPr lang="en-US" sz="9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4EDE3"/>
                </a:solidFill>
              </a:rPr>
              <a:t>+382 68 825 954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361188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97842"/>
                </a:solidFill>
              </a:rPr>
              <a:t>ÜBER DAS RESTAURANT</a:t>
            </a:r>
            <a:endParaRPr lang="en-US" sz="9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Premium-Steakhouse mit breiter Karte. Du wählst dein eigenes Messer am Tisch, dry-aged Steaks auf höchstem Niveau. Kostenlose Starter-Platte mit Knoblauchbrot und Fisch/Oliven/Käse-Paté. Elegante, warme Atmosphäre — nicht steif. Samstag bis 22:00 Uhr geöffnet.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4983480"/>
            <a:ext cx="56692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BE1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983480"/>
            <a:ext cx="73152" cy="1783080"/>
          </a:xfrm>
          <a:prstGeom prst="rect">
            <a:avLst/>
          </a:prstGeom>
          <a:solidFill>
            <a:srgbClr val="D4A056"/>
          </a:solidFill>
          <a:ln w="12700">
            <a:solidFill>
              <a:srgbClr val="D4A0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50749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„WAS GÄSTE SAGEN“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5349240"/>
            <a:ext cx="5349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„Umfangreiche Karte, aber wir kamen für das Fleisch. Beef Steak mit Süßkartoffel und Tagliata mit Trüffel-Püree — beide perfekt zubereitet.”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— Google-Review DE paraphrasiert</a:t>
            </a:r>
            <a:endParaRPr lang="en-US" sz="10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„Das beste Essen, das wir hatten — sind nachmittags und abends am gleichen Tag dort gewesen. Adirs Service war außergewöhnlich.”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— Tripadvisor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92240" y="1417320"/>
            <a:ext cx="5120640" cy="4434840"/>
          </a:xfrm>
          <a:prstGeom prst="rect">
            <a:avLst/>
          </a:prstGeom>
          <a:solidFill>
            <a:srgbClr val="FFFFFF"/>
          </a:solidFill>
          <a:ln w="6350">
            <a:solidFill>
              <a:srgbClr val="EBE1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1417320"/>
            <a:ext cx="5120640" cy="457200"/>
          </a:xfrm>
          <a:prstGeom prst="rect">
            <a:avLst/>
          </a:prstGeom>
          <a:solidFill>
            <a:srgbClr val="D97842"/>
          </a:solidFill>
          <a:ln w="12700">
            <a:solidFill>
              <a:srgbClr val="D978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14173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AUSZUG AUS DER SPEISEKARTE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75120" y="19659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Signature Steaks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75120" y="2240280"/>
            <a:ext cx="4754880" cy="0"/>
          </a:xfrm>
          <a:prstGeom prst="line">
            <a:avLst/>
          </a:prstGeom>
          <a:noFill/>
          <a:ln w="6350">
            <a:solidFill>
              <a:srgbClr val="EBE1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231343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Beef Steak mit Süßkartoffel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424160" y="23134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~24 €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20840" y="25603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Tagliata mit Trüffel-Püree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424160" y="2560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~28 €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20840" y="28072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Dry-Aged Ribeye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424160" y="28072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~32 €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675120" y="3246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Inklusive (gratis)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675120" y="3520440"/>
            <a:ext cx="4754880" cy="0"/>
          </a:xfrm>
          <a:prstGeom prst="line">
            <a:avLst/>
          </a:prstGeom>
          <a:noFill/>
          <a:ln w="6350">
            <a:solidFill>
              <a:srgbClr val="EBE1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20840" y="359359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Knoblauchbrot + 3 Patés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424160" y="35935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gratis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20840" y="38404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Messer-Auswahl am Tisch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424160" y="38404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gratis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720840" y="408736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Hausgebackenes Brot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424160" y="40873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gratis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675120" y="45262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Weitere Gänge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675120" y="4800600"/>
            <a:ext cx="4754880" cy="0"/>
          </a:xfrm>
          <a:prstGeom prst="line">
            <a:avLst/>
          </a:prstGeom>
          <a:noFill/>
          <a:ln w="6350">
            <a:solidFill>
              <a:srgbClr val="EBE1D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20840" y="487375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Fisch-Spezialitäten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424160" y="48737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~20-28 €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720840" y="51206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Beilagen (Kartoffel/Salat)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424160" y="51206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~4-6 €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720840" y="536752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Wein-Glas premium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424160" y="536752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~5 €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492240" y="6035040"/>
            <a:ext cx="5120640" cy="384048"/>
          </a:xfrm>
          <a:prstGeom prst="roundRect">
            <a:avLst>
              <a:gd name="adj" fmla="val 11905"/>
            </a:avLst>
          </a:prstGeom>
          <a:solidFill>
            <a:srgbClr val="1F2B4D"/>
          </a:solidFill>
          <a:ln w="12700">
            <a:solidFill>
              <a:srgbClr val="1F2B4D"/>
            </a:solidFill>
            <a:prstDash val="solid"/>
          </a:ln>
        </p:spPr>
      </p:sp>
      <p:sp>
        <p:nvSpPr>
          <p:cNvPr id="45" name="Text 43">
            <a:hlinkClick r:id="rId1" tooltip=""/>
          </p:cNvPr>
          <p:cNvSpPr/>
          <p:nvPr/>
        </p:nvSpPr>
        <p:spPr>
          <a:xfrm>
            <a:off x="6492240" y="603504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sng" dirty="0">
                <a:solidFill>
                  <a:srgbClr val="F4EDE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Website öffnen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Brunch &amp; Lunch Optionen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SAMSTAG &amp; SONNTAG MORGEN · + FREITAG LUNCH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789920" y="365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 / 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749040" cy="4937760"/>
          </a:xfrm>
          <a:prstGeom prst="rect">
            <a:avLst/>
          </a:prstGeom>
          <a:solidFill>
            <a:srgbClr val="FFFFFF"/>
          </a:solidFill>
          <a:ln w="6350">
            <a:solidFill>
              <a:srgbClr val="EBE1D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3749040" cy="1005840"/>
          </a:xfrm>
          <a:prstGeom prst="rect">
            <a:avLst/>
          </a:prstGeom>
          <a:solidFill>
            <a:srgbClr val="D97842"/>
          </a:solidFill>
          <a:ln w="12700">
            <a:solidFill>
              <a:srgbClr val="D978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00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SPAGO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19933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CADC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Samstag-Brunch · Italienisch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0" y="1600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4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 4.8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00400" y="1965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1.641 Rev.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22128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+382 20 653 419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65176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Italienisch-international. Bester Pizza-Spot in Podgorica laut italienischen Einheimischen. Große Brunch-Karte mit Spiegeleiern, Benedict-Variationen, frischer Pasta. Ruhige, elegante Atmosphäre.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3886200"/>
            <a:ext cx="3383280" cy="640080"/>
          </a:xfrm>
          <a:prstGeom prst="rect">
            <a:avLst/>
          </a:prstGeom>
          <a:solidFill>
            <a:srgbClr val="FBF7EE"/>
          </a:solidFill>
          <a:ln w="12700">
            <a:solidFill>
              <a:srgbClr val="EBE1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8862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„Die beste Pizza in Podgorica. Dünner Teig, krosse Kruste — unschlagbar.”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46177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AUSZUG SPEISEKARTE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40080" y="4846320"/>
            <a:ext cx="3383280" cy="0"/>
          </a:xfrm>
          <a:prstGeom prst="line">
            <a:avLst/>
          </a:prstGeom>
          <a:noFill/>
          <a:ln w="6350">
            <a:solidFill>
              <a:srgbClr val="EBE1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9194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Pizza Margherita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00400" y="491947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~8 €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51663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Spezial-Pizza (Parmigiano, Burrata)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00400" y="51663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~13 €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54132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Pasta-Gericht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00400" y="541324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~10 €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" y="566013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Enten-Variation auf Süßkartoffel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00400" y="566013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~16 €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590702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Kaffee / Cappuccino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00400" y="590702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~2 €</a:t>
            </a:r>
            <a:endParaRPr lang="en-US" sz="900" dirty="0"/>
          </a:p>
        </p:txBody>
      </p:sp>
      <p:sp>
        <p:nvSpPr>
          <p:cNvPr id="27" name="Text 25">
            <a:hlinkClick r:id="rId1" tooltip=""/>
          </p:cNvPr>
          <p:cNvSpPr/>
          <p:nvPr/>
        </p:nvSpPr>
        <p:spPr>
          <a:xfrm>
            <a:off x="640080" y="61264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i="1" u="sng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Menü online öffnen →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389120" y="1463040"/>
            <a:ext cx="3749040" cy="4937760"/>
          </a:xfrm>
          <a:prstGeom prst="rect">
            <a:avLst/>
          </a:prstGeom>
          <a:solidFill>
            <a:srgbClr val="FFFFFF"/>
          </a:solidFill>
          <a:ln w="6350">
            <a:solidFill>
              <a:srgbClr val="EBE1D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389120" y="1463040"/>
            <a:ext cx="3749040" cy="1005840"/>
          </a:xfrm>
          <a:prstGeom prst="rect">
            <a:avLst/>
          </a:prstGeom>
          <a:solidFill>
            <a:srgbClr val="1F2B4D"/>
          </a:solidFill>
          <a:ln w="12700">
            <a:solidFill>
              <a:srgbClr val="1F2B4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0" y="1600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Diplomat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4572000" y="19933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CADC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Sonntag-Brunch · Mediterran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132320" y="1600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4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 4.8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132320" y="1965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545 Rev.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0" y="22128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+382 67 993 339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0" y="265176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Perfekt für den Sonntagsbrunch mit Gepäck — 3 Min von der Wohnung, viel Platz für Koffer. Das warme Brotkörbchen mit drei Sorten und hausgemachten Pasten ist der Katerkiller schlechthin. Frühstück bis mittags.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0" y="3886200"/>
            <a:ext cx="3383280" cy="640080"/>
          </a:xfrm>
          <a:prstGeom prst="rect">
            <a:avLst/>
          </a:prstGeom>
          <a:solidFill>
            <a:srgbClr val="FBF7EE"/>
          </a:solidFill>
          <a:ln w="12700">
            <a:solidFill>
              <a:srgbClr val="EBE1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38862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„Warm, fluffig, zarte Brote mit leckeren Dips — hätte nur davon leben können.”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0" y="46177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F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AUSZUG SPEISEKARTE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572000" y="4846320"/>
            <a:ext cx="3383280" cy="0"/>
          </a:xfrm>
          <a:prstGeom prst="line">
            <a:avLst/>
          </a:prstGeom>
          <a:noFill/>
          <a:ln w="6350">
            <a:solidFill>
              <a:srgbClr val="EBE1D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0" y="49194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Brotkörbchen + 3 Dips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132320" y="491947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gratis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572000" y="51663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Frühstücks-Platte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132320" y="51663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~10 €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572000" y="54132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Caesar Salad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132320" y="541324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~9 €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572000" y="566013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Kalbsbacke (falls schon Lust auf warm)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132320" y="566013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~18 €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572000" y="590702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Kaffee / Espresso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132320" y="590702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~2 €</a:t>
            </a:r>
            <a:endParaRPr lang="en-US" sz="900" dirty="0"/>
          </a:p>
        </p:txBody>
      </p:sp>
      <p:sp>
        <p:nvSpPr>
          <p:cNvPr id="50" name="Text 48">
            <a:hlinkClick r:id="rId2" tooltip=""/>
          </p:cNvPr>
          <p:cNvSpPr/>
          <p:nvPr/>
        </p:nvSpPr>
        <p:spPr>
          <a:xfrm>
            <a:off x="4572000" y="61264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i="1" u="sng" dirty="0">
                <a:solidFill>
                  <a:srgbClr val="1F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Menü online öffnen →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321040" y="1463040"/>
            <a:ext cx="3749040" cy="4937760"/>
          </a:xfrm>
          <a:prstGeom prst="rect">
            <a:avLst/>
          </a:prstGeom>
          <a:solidFill>
            <a:srgbClr val="FFFFFF"/>
          </a:solidFill>
          <a:ln w="6350">
            <a:solidFill>
              <a:srgbClr val="EBE1D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8321040" y="1463040"/>
            <a:ext cx="3749040" cy="1005840"/>
          </a:xfrm>
          <a:prstGeom prst="rect">
            <a:avLst/>
          </a:prstGeom>
          <a:solidFill>
            <a:srgbClr val="5D4478"/>
          </a:solidFill>
          <a:ln w="12700">
            <a:solidFill>
              <a:srgbClr val="5D447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503920" y="1600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Gostiona 1928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8503920" y="19933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CADC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Freitag-Lunch / Alternative Brunch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1064240" y="1600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4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 4.3</a:t>
            </a:r>
            <a:endParaRPr lang="en-US" sz="2200" dirty="0"/>
          </a:p>
        </p:txBody>
      </p:sp>
      <p:sp>
        <p:nvSpPr>
          <p:cNvPr id="56" name="Text 54"/>
          <p:cNvSpPr/>
          <p:nvPr/>
        </p:nvSpPr>
        <p:spPr>
          <a:xfrm>
            <a:off x="11064240" y="1965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298 Rev.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503920" y="22128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+382 67 019 280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503920" y="265176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Traditionelles Haus von 1928 — 2 Min von unserer Wohnung. Obere Terrasse für Brunch ideal. Großzügige Portionen, faire Preise, tolle lokale Käse und Brote. „Gigantisch hinter der Fassade“ mit mehreren Bereichen.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8503920" y="3886200"/>
            <a:ext cx="3383280" cy="640080"/>
          </a:xfrm>
          <a:prstGeom prst="rect">
            <a:avLst/>
          </a:prstGeom>
          <a:solidFill>
            <a:srgbClr val="FBF7EE"/>
          </a:solidFill>
          <a:ln w="12700">
            <a:solidFill>
              <a:srgbClr val="EBE1D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595360" y="38862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„Großzügige Portionen, faire Preise, spektakuläre Lage auf der oberen Terrasse.”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8503920" y="46177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D44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AUSZUG SPEISEKARTE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8503920" y="4846320"/>
            <a:ext cx="3383280" cy="0"/>
          </a:xfrm>
          <a:prstGeom prst="line">
            <a:avLst/>
          </a:prstGeom>
          <a:noFill/>
          <a:ln w="6350">
            <a:solidFill>
              <a:srgbClr val="EBE1D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503920" y="49194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Frühstücks-Platte traditionell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1064240" y="491947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D44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~8 €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8503920" y="51663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Lokale Käse-Variation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11064240" y="51663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D44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~10 €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8503920" y="54132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Steak (mittags empfohlen)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11064240" y="541324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D44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~16 €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8503920" y="566013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Tagliatelle Truffle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11064240" y="566013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D44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~14 €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8503920" y="590702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Kaffee + Hausgemachtes Gebäck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11064240" y="590702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D44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~4 €</a:t>
            </a:r>
            <a:endParaRPr lang="en-US" sz="900" dirty="0"/>
          </a:p>
        </p:txBody>
      </p:sp>
      <p:sp>
        <p:nvSpPr>
          <p:cNvPr id="73" name="Text 71">
            <a:hlinkClick r:id="rId3" tooltip=""/>
          </p:cNvPr>
          <p:cNvSpPr/>
          <p:nvPr/>
        </p:nvSpPr>
        <p:spPr>
          <a:xfrm>
            <a:off x="8503920" y="61264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i="1" u="sng" dirty="0">
                <a:solidFill>
                  <a:srgbClr val="5D44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Menü online öffnen →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Kneipen · Freitag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WARMUP &amp; CRAFT-BIER-ABEND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789920" y="365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16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15:00 – 18:30  ·  Warmup-Kneipe  (3,5 h)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3949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BE1D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783080"/>
            <a:ext cx="5394960" cy="502920"/>
          </a:xfrm>
          <a:prstGeom prst="rect">
            <a:avLst/>
          </a:prstGeom>
          <a:solidFill>
            <a:srgbClr val="D97842"/>
          </a:solidFill>
          <a:ln w="12700">
            <a:solidFill>
              <a:srgbClr val="D978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874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PG Akademija piva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874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4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 4.5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3774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HAUPT-OPTION · REGIONALE BRAUEREI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26517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Brauereigaststätte mit großer Außenfläche. Alle Biere direkt vom Tank — Tasting-Flight mit 6 Sorten für ~12 €. Pizza zum Fundament. Lange Tafel-Atmosphäre, perfekt zum Ankommen und Verweilen.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3375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Täglich 8:00 – 00:00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D97842"/>
                </a:solidFill>
              </a:rPr>
              <a:t>+382 67 661 777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17920" y="1783080"/>
            <a:ext cx="53949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BE1D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783080"/>
            <a:ext cx="5394960" cy="502920"/>
          </a:xfrm>
          <a:prstGeom prst="rect">
            <a:avLst/>
          </a:prstGeom>
          <a:solidFill>
            <a:srgbClr val="1F2B4D"/>
          </a:solidFill>
          <a:ln w="12700">
            <a:solidFill>
              <a:srgbClr val="1F2B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874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Itaka Library Bar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424160" y="1874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4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 4.8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0" y="23774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F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ALTERNATIVE · AM FLUSS UNTER DER BRÜCKE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0" y="26517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Versteckter Geheimtipp — unter der Brücke am Moraca-Fluss. Mehrere Outdoor-Ebenen, Boho-Atmosphäre, viele Einheimische. Leckere Lemonades und signature Cocktails. „My favorite place in the city to hang out.“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0" y="33375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Täglich 9:00 – 00:00  ·  Sonntags ab 11:00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F2B4D"/>
                </a:solidFill>
              </a:rPr>
              <a:t>+382 67 156 650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41148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22:30 – 00:00  ·  Craft-Bier-Kneipe (dann Morrison bis 03:00)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480560"/>
            <a:ext cx="36576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BE1D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4480560"/>
            <a:ext cx="3657600" cy="502920"/>
          </a:xfrm>
          <a:prstGeom prst="rect">
            <a:avLst/>
          </a:prstGeom>
          <a:solidFill>
            <a:srgbClr val="1F2B4D"/>
          </a:solidFill>
          <a:ln w="12700">
            <a:solidFill>
              <a:srgbClr val="1F2B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572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Bogart Craft Beer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017520" y="45720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4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 4.9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" y="50749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F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HÖCHSTBEW. KNEIPE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1520" y="5349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4.9⭐/120 — höchste Bewertung aller Kneipen Podgoricas. Craft-Bier-Auswahl, Karaoke, Tischkicker. Insider-Spot der jungen Einheimischen.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" y="5943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Täglich 16:00 – 00:00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F2B4D"/>
                </a:solidFill>
              </a:rPr>
              <a:t>+382 63 228 680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297680" y="4480560"/>
            <a:ext cx="36576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BE1D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297680" y="4480560"/>
            <a:ext cx="3657600" cy="5029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80560" y="4572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SMASH Pub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766560" y="45720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4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 4.6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480560" y="50749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85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CRAFT + BURGER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480560" y="5349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4.6⭐ · Craft-Bier + die besten Burgers der Stadt. Reggae/Classic-Rock-Musik, entspannte Atmosphäre. Falls ihr noch Hunger habt spät abends.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480560" y="5943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Täglich 7:00 – 00:00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B85042"/>
                </a:solidFill>
              </a:rPr>
              <a:t>+382 67 971 999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046720" y="4480560"/>
            <a:ext cx="36576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BE1D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046720" y="4480560"/>
            <a:ext cx="3657600" cy="502920"/>
          </a:xfrm>
          <a:prstGeom prst="rect">
            <a:avLst/>
          </a:prstGeom>
          <a:solidFill>
            <a:srgbClr val="5D4478"/>
          </a:solidFill>
          <a:ln w="12700">
            <a:solidFill>
              <a:srgbClr val="5D447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0" y="4572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Morrison Pub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0515600" y="45720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4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 4.2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229600" y="50749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D44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PARTY · BIS 03:00 FR+SA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229600" y="5349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4.2⭐ · Live-Musik, DJ, Rock-Vibe. Freitag und Samstag bis 03:00 geöffnet. Endstation für harte Nächte.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229600" y="5943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Fr/Sa 8:00 – 03:00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D4478"/>
                </a:solidFill>
              </a:rPr>
              <a:t>+382 69 499 900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Kneipen · Samstag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SPORTSBAR-NACHMITTAG &amp; NACHT-KNEIPEN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789920" y="365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17 / 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2194560"/>
          </a:xfrm>
          <a:prstGeom prst="rect">
            <a:avLst/>
          </a:prstGeom>
          <a:solidFill>
            <a:srgbClr val="0F1730"/>
          </a:solidFill>
          <a:ln w="12700">
            <a:solidFill>
              <a:srgbClr val="0F17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17320"/>
            <a:ext cx="137160" cy="2194560"/>
          </a:xfrm>
          <a:prstGeom prst="rect">
            <a:avLst/>
          </a:prstGeom>
          <a:solidFill>
            <a:srgbClr val="D97842"/>
          </a:solidFill>
          <a:ln w="12700">
            <a:solidFill>
              <a:srgbClr val="D978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54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14:30 – 18:30  ·  4 h SPORTSBAR-SESSION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828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 WWW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914400" y="2468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★ 4.6  ·  184 Reviews  ·  Bokeška 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834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EDE3"/>
                </a:solidFill>
              </a:rPr>
              <a:t>Große Außenterrasse mit Flatscreens  ·  Tuborg vom Fass  ·  günstig  ·  Pub-Food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Genau das richtige für Bundesliga-Samstag: 4 Stunden draußen sitzen, Bier trinken, Spiele schauen. Bodenständige Kneipen-Atmosphäre, keine Bar-Attitüde.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840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22:30 – 00:00  ·  Craft-Bier-Kneipe  (dann Morrison bis 03:00)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36576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BE1D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4206240"/>
            <a:ext cx="3657600" cy="502920"/>
          </a:xfrm>
          <a:prstGeom prst="rect">
            <a:avLst/>
          </a:prstGeom>
          <a:solidFill>
            <a:srgbClr val="D97842"/>
          </a:solidFill>
          <a:ln w="12700">
            <a:solidFill>
              <a:srgbClr val="D978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297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Fermentor Craft Beer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17520" y="42976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4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 4.7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480060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LOKAL GEBRAUT · EINZIGARTIG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50749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4.7⭐/82 — die einzige Kneipe in Podgorica mit lokal gebrautem Craft Beer. Brewpub-Style, entspannte Atmosphäre, echte Bierleute. Etwas außerhalb des Zentrums (Taxi ~3 €).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Täglich 8:00 – 00:00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D97842"/>
                </a:solidFill>
              </a:rPr>
              <a:t>+382 69 541 943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297680" y="4206240"/>
            <a:ext cx="36576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BE1D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97680" y="4206240"/>
            <a:ext cx="3657600" cy="502920"/>
          </a:xfrm>
          <a:prstGeom prst="rect">
            <a:avLst/>
          </a:prstGeom>
          <a:solidFill>
            <a:srgbClr val="1F2B4D"/>
          </a:solidFill>
          <a:ln w="12700">
            <a:solidFill>
              <a:srgbClr val="1F2B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0" y="4297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Itaka Library Bar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66560" y="42976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4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 4.8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480560" y="480060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F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AM FLUSS · OUTDOOR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480560" y="50749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4.8⭐/358 — wenn ihr lieber wieder draußen sitzen wollt. Unter der Brücke, Boardwalk am Fluss, Bäume und Outdoor-Terrassen. Perfekt für warme Abende.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480560" y="5852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Fr/Sa bis 01:00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F2B4D"/>
                </a:solidFill>
              </a:rPr>
              <a:t>+382 67 156 650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046720" y="4206240"/>
            <a:ext cx="36576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BE1D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046720" y="4206240"/>
            <a:ext cx="3657600" cy="502920"/>
          </a:xfrm>
          <a:prstGeom prst="rect">
            <a:avLst/>
          </a:prstGeom>
          <a:solidFill>
            <a:srgbClr val="5D4478"/>
          </a:solidFill>
          <a:ln w="12700">
            <a:solidFill>
              <a:srgbClr val="5D447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0" y="4297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Bogart Craft Beer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515600" y="42976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4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 4.9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229600" y="480060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D44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ALTERNATIVE · CRAFT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29600" y="50749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4.9⭐/120 — höchstbewertete Kneipe Podgoricas. Craft-Bier, Karaoke, Tischkicker. Falls ihr am Freitag dort wart und Samstag nochmal hin wollt.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0" y="5852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Täglich bis 00:00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D4478"/>
                </a:solidFill>
              </a:rPr>
              <a:t>+382 63 228 680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Sightseeing · Das Minimum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ZWISCHEN DEN BIEREN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789920" y="365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18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Ehrlich: Podgorica ist nicht Paris. Aber zwischen Supermarkt und Warmup-Kneipe lohnen sich zwei Spots — beide direkt auf dem Weg zur Altstadt Stara Varoš, 5-10 Min zu Fuß.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39496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BE1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331720"/>
            <a:ext cx="640080" cy="640080"/>
          </a:xfrm>
          <a:prstGeom prst="rect">
            <a:avLst/>
          </a:prstGeom>
          <a:solidFill>
            <a:srgbClr val="5D4478"/>
          </a:solidFill>
          <a:ln w="12700">
            <a:solidFill>
              <a:srgbClr val="5D44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554480" y="23317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Sahat Kula (Uhrturm)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54480" y="265176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D44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1667 · Osmanisch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554480" y="285292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 Min von Wohnung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315468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16 Meter hoher Uhrturm, 1667 von Hadži-paša Osmanagić erbaut. Die Uhr kam damals aus Italien. Eines der wenigen osmanischen Bauwerke, das den Zweiten Weltkrieg überlebte — 72 Bombardierungen hatten fast alles andere zerstört. Zentrum der Altstadt Stara Varoš.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09360" y="2103120"/>
            <a:ext cx="539496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BE1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37960" y="2331720"/>
            <a:ext cx="640080" cy="6400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315200" y="23317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Stara Varoš Altstadt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0" y="265176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5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Osmanische Ära (15.-19. Jh.)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0" y="285292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 Min von Wohnung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37960" y="315468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Historisches Viertel mit engen Gassen. Viele kleine Häuser, Moscheen (Osmanagić-Moschee, Ende 90er wiederaufgebaut), kleine Cafés. Wirkt etwas trostlos stellenweise, aber genau das macht's authentisch. 30 Min Schlendern reicht.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343400"/>
            <a:ext cx="539496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BE1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572000"/>
            <a:ext cx="640080" cy="640080"/>
          </a:xfrm>
          <a:prstGeom prst="rect">
            <a:avLst/>
          </a:prstGeom>
          <a:solidFill>
            <a:srgbClr val="1F2B4D"/>
          </a:solidFill>
          <a:ln w="12700">
            <a:solidFill>
              <a:srgbClr val="1F2B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572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554480" y="45720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Millennium-Brücke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54480" y="489204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F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Eröffnet 13.07.2005 · 173 m lang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554480" y="509320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 Min von Wohnung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77240" y="539496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Das moderne Wahrzeichen Podgoricas. Weiße Seil-Pylonstruktur über dem Moraca-Fluss. Bei Sonnenuntergang besonders schön für Fotos. Perfekt um den Spaziergang vom Zentrum zur Altstadt zu machen.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09360" y="4343400"/>
            <a:ext cx="539496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BE1D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37960" y="4572000"/>
            <a:ext cx="640080" cy="640080"/>
          </a:xfrm>
          <a:prstGeom prst="rect">
            <a:avLst/>
          </a:prstGeom>
          <a:solidFill>
            <a:srgbClr val="2E5C3A"/>
          </a:solidFill>
          <a:ln w="12700">
            <a:solidFill>
              <a:srgbClr val="2E5C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4572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7315200" y="45720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Moraca-Fluss-Promenade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315200" y="489204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E5C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Immer offen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315200" y="509320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 Min von Wohnung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537960" y="539496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Promenade am Ufer. Sonntag-Nachmittag laufen dort Einheimische mit Eis, Kinderwagen, Skateboards. Perfekt um einen Kaffee aus einem Plastikbecher zu trinken und die Stadt zu spüren.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6583680"/>
            <a:ext cx="11064240" cy="274320"/>
          </a:xfrm>
          <a:prstGeom prst="roundRect">
            <a:avLst>
              <a:gd name="adj" fmla="val 13333"/>
            </a:avLst>
          </a:prstGeom>
          <a:solidFill>
            <a:srgbClr val="1F2B4D"/>
          </a:solidFill>
          <a:ln w="12700">
            <a:solidFill>
              <a:srgbClr val="1F2B4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65836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4EDE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Empfehlung: Freitag 15:30-16:00 kurzer Spaziergang auf dem Weg zu PG Akademija piva.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Geschenke für zu Hause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DIE TOURI-ECKE · FÜR DIE FREUNDINNEN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789920" y="365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19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Damit die Freundinnen nicht nur einen Kater-Typen zurückbekommen: drei Souvenir-Spots im Zentrum. Alle zu Fuß von der Wohnung erreichbar. Ideal Samstag-Vormittag vor dem Brunch oder als Hangover-Spaziergang.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374904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EBE1D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240280"/>
            <a:ext cx="3749040" cy="822960"/>
          </a:xfrm>
          <a:prstGeom prst="rect">
            <a:avLst/>
          </a:prstGeom>
          <a:solidFill>
            <a:srgbClr val="D4A056"/>
          </a:solidFill>
          <a:ln w="12700">
            <a:solidFill>
              <a:srgbClr val="D4A0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3317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HAUPT-EMPFEHLUNG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53288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Pg Souvenir Shop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00400" y="256032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 4.4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315468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D4A056"/>
                </a:solidFill>
              </a:rPr>
              <a:t>5 Min zu Fuß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Täglich 8:00 – 24:00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60 Bul. Ivana Crnojevića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97764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Breite Auswahl, gutes Konzept — liegt im selben Gebäude wie das Hard Rock Café, ist nicht nur ein Shop sondern auch Kaffee-Bar. Handwerkliche Artikel, T-Shirts, Hoodies, Magnete, Schlüsselanhänger, Kaffeetassen, Flaggen. Wenn ihr mindestens 10 € ausgebt, bekommt ihr einen Kaffee kostenlos.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080" y="56235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D4A0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SORTIMENT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40080" y="58064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Magnete (~3 €)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T-Shirts (~15-20 €)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Kaffeetassen (~8 €)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Schlüsselanhänger (~5 €)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Handmade Handwerk (variabel)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389120" y="2240280"/>
            <a:ext cx="374904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EBE1D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89120" y="2240280"/>
            <a:ext cx="3749040" cy="822960"/>
          </a:xfrm>
          <a:prstGeom prst="rect">
            <a:avLst/>
          </a:prstGeom>
          <a:solidFill>
            <a:srgbClr val="D97842"/>
          </a:solidFill>
          <a:ln w="12700">
            <a:solidFill>
              <a:srgbClr val="D978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23317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KLEINERE AUSWAHL · NUR CASH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0" y="253288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Petex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132320" y="256032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 4.5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572000" y="315468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D97842"/>
                </a:solidFill>
              </a:rPr>
              <a:t>7 Min zu Fuß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Mo-Fr 8:00-14:00 · Sa bis 12:00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Bratstva i Jedinstva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0" y="397764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 Hinterhof zwischen zwei Gebäuden — bisschen versteckt aber freundliche Inhaber. Günstigere Preise als in der Küste. Nur Bargeld. Kleinere Auswahl aber solide Qualität, man kann auch in USD zahlen (aber zu schlechterem Kurs).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0" y="56235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SORTIMENT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0" y="58064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Magnete (~2 €)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Kleinere Souvenirs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Postkarten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Frei-Pen als Geschenk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Keine Kartenzahlung!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321040" y="2240280"/>
            <a:ext cx="374904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EBE1D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21040" y="2240280"/>
            <a:ext cx="3749040" cy="822960"/>
          </a:xfrm>
          <a:prstGeom prst="rect">
            <a:avLst/>
          </a:prstGeom>
          <a:solidFill>
            <a:srgbClr val="5D4478"/>
          </a:solidFill>
          <a:ln w="12700">
            <a:solidFill>
              <a:srgbClr val="5D447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0" y="23317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HANDGEMACHT · JEWELRY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503920" y="253288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ANOTHER STORY Design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064240" y="256032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 5.0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8503920" y="315468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D4478"/>
                </a:solidFill>
              </a:rPr>
              <a:t>8 Min zu Fuß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Mo-Sa 8:30 – 21:30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Metalka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503920" y="397764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Falls ihr was Persönlicheres wollt: handgemachter Designer-Schmuck von lokalen Montenegrinern. Ohrringe, Halsketten, einzigartige Stücke. Kartenzahlung möglich (in Montenegro nicht selbstverständlich). Für die Partnerin ein richtiges Geschenk statt Magnete.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503920" y="56235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D44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SORTIMENT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503920" y="58064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Handgemachte Ohrringe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Silberketten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Unique Designer-Stücke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Gift-Wrapping möglich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Karten-Zahlung OK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" y="6629400"/>
            <a:ext cx="11064240" cy="228600"/>
          </a:xfrm>
          <a:prstGeom prst="roundRect">
            <a:avLst>
              <a:gd name="adj" fmla="val 12000"/>
            </a:avLst>
          </a:prstGeom>
          <a:solidFill>
            <a:srgbClr val="0F1730"/>
          </a:solidFill>
          <a:ln w="12700">
            <a:solidFill>
              <a:srgbClr val="0F173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662940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4EDE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Tipp: Montenegrinische Spezialitäten (Pršuta, Rakija, Olivenöl) findet ihr auch im VOLI-Supermarkt — eignet sich auch als Mitbringsel.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Reservierungen machen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WICHTIGE TELEFONNUMMERN &amp; WHATSAPP-TEXTE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789920" y="365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🇬🇧  WHATSAPP-VORLAGE (ENGLISCH)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rgbClr val="1F2B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7452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Hello! I'd like to make a reservation for 2 people on </a:t>
            </a:r>
            <a:pPr indent="0" marL="0">
              <a:buNone/>
            </a:pPr>
            <a:r>
              <a:rPr lang="en-US" sz="1300" b="1" dirty="0">
                <a:solidFill>
                  <a:srgbClr val="D97842"/>
                </a:solidFill>
              </a:rPr>
              <a:t>[Friday 24th] at [19:00]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.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Name: </a:t>
            </a:r>
            <a:pPr indent="0" marL="0">
              <a:buNone/>
            </a:pPr>
            <a:r>
              <a:rPr lang="en-US" sz="1300" b="1" dirty="0">
                <a:solidFill>
                  <a:srgbClr val="D97842"/>
                </a:solidFill>
              </a:rPr>
              <a:t>Luca.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Could you please confirm? We'd like a </a:t>
            </a:r>
            <a:pPr indent="0" marL="0">
              <a:buNone/>
            </a:pPr>
            <a:r>
              <a:rPr lang="en-US" sz="1300" b="1" dirty="0">
                <a:solidFill>
                  <a:srgbClr val="D97842"/>
                </a:solidFill>
              </a:rPr>
              <a:t>[outside / inside]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 table if possible. Thank you!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5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📞  PRIORITÄT · RESERVIEREN BIS SPÄTESTENS MITTWOCH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11064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BE1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611880"/>
            <a:ext cx="109728" cy="5943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68503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Restoran Protokol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91363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Samstag 25.04. · 19:30 Uhr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40480" y="36850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+382 68 222 111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75120" y="368503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Nr. 1 der Stadt — buchen oft aus.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4297680"/>
            <a:ext cx="11064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BE1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297680"/>
            <a:ext cx="109728" cy="594360"/>
          </a:xfrm>
          <a:prstGeom prst="rect">
            <a:avLst/>
          </a:prstGeom>
          <a:solidFill>
            <a:srgbClr val="D97842"/>
          </a:solidFill>
          <a:ln w="12700">
            <a:solidFill>
              <a:srgbClr val="D978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37083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Konoba Lanterna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459943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Freitag 24.04. · 19:00 Uhr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40480" y="43708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+382 67 663 163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75120" y="437083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Veal under the bell vorbestellen (24 h vorher!)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4983480"/>
            <a:ext cx="11064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BE1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983480"/>
            <a:ext cx="109728" cy="594360"/>
          </a:xfrm>
          <a:prstGeom prst="rect">
            <a:avLst/>
          </a:prstGeom>
          <a:solidFill>
            <a:srgbClr val="1F2B4D"/>
          </a:solidFill>
          <a:ln w="12700">
            <a:solidFill>
              <a:srgbClr val="1F2B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505663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Restoran Diplomat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528523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Freitag oder Sonntag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40480" y="50566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+382 67 993 339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675120" y="505663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Fallback bzw. Sonntag-Brunch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5669280"/>
            <a:ext cx="11064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BE1D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5669280"/>
            <a:ext cx="109728" cy="594360"/>
          </a:xfrm>
          <a:prstGeom prst="rect">
            <a:avLst/>
          </a:prstGeom>
          <a:solidFill>
            <a:srgbClr val="5D4478"/>
          </a:solidFill>
          <a:ln w="12700">
            <a:solidFill>
              <a:srgbClr val="5D447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574243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Babi Gourmet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77240" y="597103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Samstag · Alternative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840480" y="57424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D44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+382 67 160 393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675120" y="574243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Falls Protokol ausgebucht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Praktisches &amp; Notfall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WAS IHR DABEI HABEN MÜSST &amp; WICHTIGE NUMMERN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789920" y="365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21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📋  PACKLISTE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Personalausweis (reicht für Montenegro, kein Reisepass nötig)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EC / Kreditkarte + etwas Bargeld Euro (viel wird nicht akzeptiert)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Ladekabel + Powerbank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Handgepäck Wizz Air: 40×30×20 cm gratis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Kleidung: leger, Wetter ~21°C, leichte Jacke für abends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Kopfschmerztabletten + Magentabletten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Flugtickets als PDF + Wohnungs-Check-in-Daten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Reservierungsbestätigungen ausdrucken oder als Screenshot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0" y="14173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5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🚨  NOTFALL-NUMMERN MONTENEGRO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874520"/>
            <a:ext cx="53035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BE1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18745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46720" y="18745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Allgemeiner Notruf EU-weit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2331720"/>
            <a:ext cx="53035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BE1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23317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46720" y="23317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Polizei Montenegro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2788920"/>
            <a:ext cx="53035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BE1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27889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46720" y="27889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Feuerwehr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0" y="3246120"/>
            <a:ext cx="53035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BE1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32461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46720" y="32461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Rettungsdienst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0" y="3703320"/>
            <a:ext cx="53035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BE1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37033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+382 19 700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046720" y="37033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Eko Taxi (telefonisch)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60520"/>
            <a:ext cx="53035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BE1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41605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Bolt-App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046720" y="41605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Taxi-App funktioniert in PG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44805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ℹ️  GUT ZU WISSEN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4846320"/>
            <a:ext cx="35661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BE1D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4846320"/>
            <a:ext cx="3566160" cy="64008"/>
          </a:xfrm>
          <a:prstGeom prst="rect">
            <a:avLst/>
          </a:prstGeom>
          <a:solidFill>
            <a:srgbClr val="1F2B4D"/>
          </a:solidFill>
          <a:ln w="12700">
            <a:solidFill>
              <a:srgbClr val="1F2B4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983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Währung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5800" y="523036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Euro (€) — Montenegro hat Euro trotz Nicht-EU-Mitgliedschaft. Kein Umtausch nötig.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297680" y="4846320"/>
            <a:ext cx="35661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BE1D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97680" y="4846320"/>
            <a:ext cx="3566160" cy="64008"/>
          </a:xfrm>
          <a:prstGeom prst="rect">
            <a:avLst/>
          </a:prstGeom>
          <a:solidFill>
            <a:srgbClr val="1F2B4D"/>
          </a:solidFill>
          <a:ln w="12700">
            <a:solidFill>
              <a:srgbClr val="1F2B4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34840" y="4983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Sprache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434840" y="523036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Montenegrinisch · Serbisch. Junge Leute sprechen recht gut Englisch, Kellner meistens.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046720" y="4846320"/>
            <a:ext cx="35661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BE1D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46720" y="4846320"/>
            <a:ext cx="3566160" cy="64008"/>
          </a:xfrm>
          <a:prstGeom prst="rect">
            <a:avLst/>
          </a:prstGeom>
          <a:solidFill>
            <a:srgbClr val="1F2B4D"/>
          </a:solidFill>
          <a:ln w="12700">
            <a:solidFill>
              <a:srgbClr val="1F2B4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83880" y="4983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Trinkgeld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183880" y="523036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10% ist üblich im Restaurant. In Kneipen kann man auch 1 € pro Bier aufrunden.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48640" y="5852160"/>
            <a:ext cx="35661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BE1D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8640" y="5852160"/>
            <a:ext cx="3566160" cy="64008"/>
          </a:xfrm>
          <a:prstGeom prst="rect">
            <a:avLst/>
          </a:prstGeom>
          <a:solidFill>
            <a:srgbClr val="1F2B4D"/>
          </a:solidFill>
          <a:ln w="12700">
            <a:solidFill>
              <a:srgbClr val="1F2B4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" y="5989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Zeitzone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85800" y="623620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MEZ — gleich wie Deutschland. Keine Umstellung nötig.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297680" y="5852160"/>
            <a:ext cx="35661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BE1D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297680" y="5852160"/>
            <a:ext cx="3566160" cy="64008"/>
          </a:xfrm>
          <a:prstGeom prst="rect">
            <a:avLst/>
          </a:prstGeom>
          <a:solidFill>
            <a:srgbClr val="1F2B4D"/>
          </a:solidFill>
          <a:ln w="12700">
            <a:solidFill>
              <a:srgbClr val="1F2B4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34840" y="5989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Kartenzahlung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434840" y="623620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Nicht überall akzeptiert. Petex nur Cash, Supermärkte OK, Restaurants meistens OK.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8046720" y="5852160"/>
            <a:ext cx="35661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BE1D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046720" y="5852160"/>
            <a:ext cx="3566160" cy="64008"/>
          </a:xfrm>
          <a:prstGeom prst="rect">
            <a:avLst/>
          </a:prstGeom>
          <a:solidFill>
            <a:srgbClr val="1F2B4D"/>
          </a:solidFill>
          <a:ln w="12700">
            <a:solidFill>
              <a:srgbClr val="1F2B4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183880" y="5989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Wetter April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183880" y="623620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~21°C tagsüber, ~11°C nachts. Leichte Jacke, kein schwerer Mantel nötig.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828800"/>
            <a:ext cx="7315200" cy="7315200"/>
          </a:xfrm>
          <a:prstGeom prst="ellipse">
            <a:avLst/>
          </a:prstGeom>
          <a:solidFill>
            <a:srgbClr val="D97842">
              <a:alpha val="15000"/>
            </a:srgbClr>
          </a:solidFill>
          <a:ln w="12700">
            <a:solidFill>
              <a:srgbClr val="D978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743200" y="4572000"/>
            <a:ext cx="5486400" cy="5486400"/>
          </a:xfrm>
          <a:prstGeom prst="ellipse">
            <a:avLst/>
          </a:prstGeom>
          <a:solidFill>
            <a:srgbClr val="3D5283">
              <a:alpha val="25000"/>
            </a:srgbClr>
          </a:solidFill>
          <a:ln w="12700">
            <a:solidFill>
              <a:srgbClr val="3D528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4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Cheat Sheet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DIE WICHTIGSTEN NUMMERN AUF EINEN BLICK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657600" cy="1691640"/>
          </a:xfrm>
          <a:prstGeom prst="rect">
            <a:avLst/>
          </a:prstGeom>
          <a:solidFill>
            <a:srgbClr val="1F2B4D"/>
          </a:solidFill>
          <a:ln w="12700">
            <a:solidFill>
              <a:srgbClr val="D978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659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🏠  WOHNUNG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4EDE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Slobode 21, 4. Stock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4EDE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Check-in: ab 14:00 Fr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4EDE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Check-out: morgens So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480560" y="1828800"/>
            <a:ext cx="3657600" cy="1691640"/>
          </a:xfrm>
          <a:prstGeom prst="rect">
            <a:avLst/>
          </a:prstGeom>
          <a:solidFill>
            <a:srgbClr val="1F2B4D"/>
          </a:solidFill>
          <a:ln w="12700">
            <a:solidFill>
              <a:srgbClr val="D978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9659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✈️  FLÜGE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63440" y="233172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4EDE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W6 7602: Fr 09:31 DTM → 11:45 TGD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4EDE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W6 7601: So 17:30 TGD → 19:55 DTM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4EDE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Wizz Air · 2:15 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412480" y="1828800"/>
            <a:ext cx="3657600" cy="1691640"/>
          </a:xfrm>
          <a:prstGeom prst="rect">
            <a:avLst/>
          </a:prstGeom>
          <a:solidFill>
            <a:srgbClr val="1F2B4D"/>
          </a:solidFill>
          <a:ln w="12700">
            <a:solidFill>
              <a:srgbClr val="D978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0" y="19659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🚕  TAXI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595360" y="233172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4EDE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Eko Taxi: +382 19 700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4EDE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Bolt-App (funktioniert in PG)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4EDE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Flughafen ↔ Zentrum: ~15 €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749040"/>
            <a:ext cx="3657600" cy="1691640"/>
          </a:xfrm>
          <a:prstGeom prst="rect">
            <a:avLst/>
          </a:prstGeom>
          <a:solidFill>
            <a:srgbClr val="1F2B4D"/>
          </a:solidFill>
          <a:ln w="12700">
            <a:solidFill>
              <a:srgbClr val="D978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8862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🛒  SUPERMARKT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42519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4EDE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VOLI (400 m, Mo-Sa 7:30-21:30)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4EDE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Mimoza Market (350 m)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4EDE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⚠  Sonntag alle zu!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80560" y="3749040"/>
            <a:ext cx="3657600" cy="1691640"/>
          </a:xfrm>
          <a:prstGeom prst="rect">
            <a:avLst/>
          </a:prstGeom>
          <a:solidFill>
            <a:srgbClr val="1F2B4D"/>
          </a:solidFill>
          <a:ln w="12700">
            <a:solidFill>
              <a:srgbClr val="D978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38862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🍽  RESERVIERUNGEN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63440" y="42519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4EDE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Protokol Sa: +382 68 222 111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4EDE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Lanterna Fr: +382 67 663 163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4EDE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Diplomat: +382 67 993 339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412480" y="3749040"/>
            <a:ext cx="3657600" cy="1691640"/>
          </a:xfrm>
          <a:prstGeom prst="rect">
            <a:avLst/>
          </a:prstGeom>
          <a:solidFill>
            <a:srgbClr val="1F2B4D"/>
          </a:solidFill>
          <a:ln w="12700">
            <a:solidFill>
              <a:srgbClr val="D978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95360" y="38862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8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🚨  NOTFALL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595360" y="42519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4EDE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112 · Notruf EU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4EDE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122 · Polizei Montenegro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4EDE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124 · Rettung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59436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D97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 dann: Živjeli!  🍻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(Montenegrinisch für „Prost!“)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Podgorica Sauftour 24.-26. April 2026</dc:title>
  <dc:subject>PptxGenJS Presentation</dc:subject>
  <dc:creator>Luca</dc:creator>
  <cp:lastModifiedBy>Luca</cp:lastModifiedBy>
  <cp:revision>1</cp:revision>
  <dcterms:created xsi:type="dcterms:W3CDTF">2026-04-21T07:58:18Z</dcterms:created>
  <dcterms:modified xsi:type="dcterms:W3CDTF">2026-04-21T07:58:18Z</dcterms:modified>
</cp:coreProperties>
</file>